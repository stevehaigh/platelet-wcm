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128016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talk · [year]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1554480"/>
            <a:ext cx="9905695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429000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Shape 0"/>
          <p:cNvSpPr/>
          <p:nvPr/>
        </p:nvSpPr>
        <p:spPr>
          <a:xfrm>
            <a:off x="685800" y="4297680"/>
            <a:ext cx="201168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10820095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8115071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9341876" y="1709928"/>
            <a:ext cx="2164019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68680" y="1984248"/>
            <a:ext cx="36576" cy="274320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1097280" y="1984248"/>
            <a:ext cx="1022573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1097280" y="2368296"/>
            <a:ext cx="10225735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i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A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194560"/>
            <a:ext cx="108200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i="1" dirty="0">
                <a:solidFill>
                  <a:srgbClr val="1A1A1A"/>
                </a:solidFill>
                <a:latin typeface="STIX Two Math" pitchFamily="34" charset="0"/>
                <a:ea typeface="STIX Two Math" pitchFamily="34" charset="-122"/>
                <a:cs typeface="STIX Two Math" pitchFamily="34" charset="-120"/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2057400" y="3749040"/>
            <a:ext cx="80768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COL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85800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24448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009E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1"/>
          <p:cNvSpPr>
            <a:spLocks noGrp="1"/>
          </p:cNvSpPr>
          <p:nvPr>
            <p:ph type="body" idx="106" hasCustomPrompt="1"/>
          </p:nvPr>
        </p:nvSpPr>
        <p:spPr>
          <a:xfrm>
            <a:off x="6324448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56032"/>
            <a:ext cx="45720" cy="4572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Building a platelet whole-cell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dirty="0"/>
              <a:t>What worked, what didn't, and the k₃ story</a:t>
            </a:r>
          </a:p>
          <a:p>
            <a:r>
              <a:rPr dirty="0"/>
              <a:t>Steve Haigh  ·  </a:t>
            </a:r>
            <a:r>
              <a:rPr lang="en-US" dirty="0"/>
              <a:t>Dash </a:t>
            </a:r>
            <a:r>
              <a:rPr dirty="0"/>
              <a:t>lab meeting  ·  </a:t>
            </a:r>
            <a:r>
              <a:rPr lang="en-US" dirty="0"/>
              <a:t>21 </a:t>
            </a:r>
            <a:r>
              <a:rPr dirty="0"/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Framework choice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Three options. wcEcoli won.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What I evaluated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COPASI — great ODE solver, SBML import. But single-pathway focus; no copy-number accounting; no mass balance across compartments.</a:t>
            </a:r>
          </a:p>
          <a:p>
            <a:r>
              <a:t>SBML / BioModels — a catalogue and a format, not an engine. Models in isolation; re-use is integration cost.</a:t>
            </a:r>
          </a:p>
          <a:p>
            <a:r>
              <a:t>wcEcoli (Covert Lab, 2020) — the only validated multi-process whole-cell model. Mass-balanced. Every protein counted. Compartmentalised. But: E. coli-specific, ~80 kloc, unmaintained since 2022.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What I did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rPr dirty="0"/>
              <a:t>Forked </a:t>
            </a:r>
            <a:r>
              <a:rPr dirty="0" err="1"/>
              <a:t>wcEcoli</a:t>
            </a:r>
            <a:r>
              <a:rPr dirty="0"/>
              <a:t>.</a:t>
            </a:r>
          </a:p>
          <a:p>
            <a:r>
              <a:rPr dirty="0"/>
              <a:t>Pruned all E. coli biology (</a:t>
            </a:r>
            <a:r>
              <a:rPr lang="en-GB" dirty="0"/>
              <a:t>~1 month)</a:t>
            </a:r>
            <a:r>
              <a:rPr dirty="0"/>
              <a:t>.</a:t>
            </a:r>
          </a:p>
          <a:p>
            <a:r>
              <a:rPr dirty="0"/>
              <a:t>Rebuilt reconstruction and processes from the platelet literature.</a:t>
            </a:r>
          </a:p>
          <a:p>
            <a:r>
              <a:rPr dirty="0"/>
              <a:t>Kept the simulation engine, state partitioning, listener / analysis framework — ~5,000 lines of validated </a:t>
            </a:r>
            <a:r>
              <a:rPr lang="en-US" dirty="0"/>
              <a:t>code</a:t>
            </a:r>
            <a:r>
              <a:rPr dirty="0"/>
              <a:t> I didn't have to write.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How a biologist builds a calibrated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dirty="0"/>
              <a:t>For each of 12 mechanisms, a fixed five-step process:</a:t>
            </a:r>
          </a:p>
          <a:p>
            <a:r>
              <a:rPr dirty="0"/>
              <a:t>1. Anchor paper. Dolan &amp; Diamond 2014 supplied the validation experiment (Fig. 4 Ca²⁺ transients ± extracellular Ca²⁺) and resting-state targets (100 </a:t>
            </a:r>
            <a:r>
              <a:rPr dirty="0" err="1"/>
              <a:t>nM</a:t>
            </a:r>
            <a:r>
              <a:rPr dirty="0"/>
              <a:t> </a:t>
            </a:r>
            <a:r>
              <a:rPr dirty="0" err="1"/>
              <a:t>cyt</a:t>
            </a:r>
            <a:r>
              <a:rPr dirty="0"/>
              <a:t>, 250 µM DTS).</a:t>
            </a:r>
          </a:p>
          <a:p>
            <a:r>
              <a:rPr dirty="0"/>
              <a:t>2. Literature review for kinetics. Primary sources: </a:t>
            </a:r>
            <a:r>
              <a:rPr dirty="0" err="1"/>
              <a:t>deYoung</a:t>
            </a:r>
            <a:r>
              <a:rPr dirty="0"/>
              <a:t>-Keizer 1992 for IP3R, Caride 2007 for PMCA, Hoover &amp; Lewis 2011 for SOCE, Mazet 2020 for the PI cycle...</a:t>
            </a:r>
          </a:p>
          <a:p>
            <a:r>
              <a:rPr dirty="0"/>
              <a:t>3. Species enumeration. Every Ca²⁺-binding or -gating protein state, with a compartment tag. ~50 species across the calcium pathway.</a:t>
            </a:r>
          </a:p>
          <a:p>
            <a:r>
              <a:rPr dirty="0"/>
              <a:t>4. Copy numbers. Burkhart 2012 platelet proteomics.</a:t>
            </a:r>
          </a:p>
          <a:p>
            <a:r>
              <a:rPr dirty="0"/>
              <a:t>5. Rate constants. Primary-source values, units </a:t>
            </a:r>
            <a:r>
              <a:rPr dirty="0" err="1"/>
              <a:t>normalised</a:t>
            </a:r>
            <a:r>
              <a:rPr dirty="0"/>
              <a:t>, every value carrying a citation comment in code.</a:t>
            </a:r>
          </a:p>
          <a:p>
            <a:r>
              <a:rPr dirty="0"/>
              <a:t>Then: does the resting state hold? Do the timescales line up? Do the unit tests still pass?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Methodology / sanity-checks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When the sanity-checks earn their keep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The Purvis 2008 k₃ story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After implementing SERCA from Purvis 2008 Table 1: resting state diverged — cytosolic Ca²⁺ ran away or collapsed depending on initial conditions.</a:t>
            </a:r>
          </a:p>
          <a:p>
            <a:r>
              <a:t>Back-traced the flux balance to one rate constant: k₃, the E₁P·Ca → E₂P·Ca phosphoryl-transfer step.</a:t>
            </a:r>
          </a:p>
          <a:p>
            <a:r>
              <a:t>Cross-checked Purvis 2008 Table 1 against the primary source it cited (Dode 2002). The Purvis value was the reciprocal of the Dode value — a transcription error propagated unchecked.</a:t>
            </a:r>
          </a:p>
          <a:p>
            <a:r>
              <a:t>Corrected the value; the resting state held. Three other Purvis values spot-checked against primaries; one more rounding-induced drift found.</a:t>
            </a:r>
          </a:p>
          <a:p>
            <a:r>
              <a:t>Moral: every numerical value carries a primary-source citation in the code. AI would have happily reproduced the typo.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Twelve coupled mechanisms, agonist → Ca²⁺ peak</a:t>
            </a:r>
          </a:p>
        </p:txBody>
      </p:sp>
      <p:pic>
        <p:nvPicPr>
          <p:cNvPr id="4" name="Picture 3" descr="model-status-graph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806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Validation: Dolan &amp; Diamond 2014 Fig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Acceptance criteria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Resting cytosolic Ca²⁺ within 100 ± 10 nM band</a:t>
            </a:r>
          </a:p>
          <a:p>
            <a:r>
              <a:t>Resting DTS Ca²⁺ in the literature range</a:t>
            </a:r>
          </a:p>
          <a:p>
            <a:r>
              <a:t>IP₃-stimulated transient peak height in band</a:t>
            </a:r>
          </a:p>
          <a:p>
            <a:r>
              <a:t>Transient duration matches Fig 4 shape</a:t>
            </a:r>
          </a:p>
          <a:p>
            <a:r>
              <a:t>Paired ± extracellular Ca²⁺ condition difference reproduces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Model state at v0.4.1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Resting cyt Ca²⁺: 104 nM  ✓</a:t>
            </a:r>
          </a:p>
          <a:p>
            <a:r>
              <a:t>Resting DTS Ca²⁺: 235 µM  ✓</a:t>
            </a:r>
          </a:p>
          <a:p>
            <a:r>
              <a:t>Resting IP₃: 50 nM  ✓</a:t>
            </a:r>
          </a:p>
          <a:p>
            <a:r>
              <a:t>Resting Gαq-active: 100 of 5000  ✓</a:t>
            </a:r>
          </a:p>
          <a:p>
            <a:r>
              <a:t>5 / 5 Phase 3 acceptance criteria</a:t>
            </a:r>
          </a:p>
          <a:p>
            <a:r>
              <a:t>21 / 21 unit tests pass</a:t>
            </a:r>
          </a:p>
          <a:p>
            <a:r>
              <a:t>Driven by physiological agonists — 1 nM thrombin, 10 µM ADP. No hand-fitted IP₃ forcing.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173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Free vs bound Ca²⁺ during an IP₃-driven transient</a:t>
            </a:r>
          </a:p>
        </p:txBody>
      </p:sp>
      <p:pic>
        <p:nvPicPr>
          <p:cNvPr id="4" name="Picture 3" descr="ca-bound-free-v0.4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1908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0080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/>
              <a:t>Cyt rises ~100 nM → 500 nM over 60 s; DTS depletes ~60 % and refills via SOCE; buffer occupancy tracks the free pools.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Where it goes from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Near-term biology:</a:t>
            </a:r>
          </a:p>
          <a:p>
            <a:r>
              <a:t>  Granule release — the model currently stops at the Ca²⁺ peak; v0.5 lets that peak do something (dense and α-granule exocytosis).</a:t>
            </a:r>
          </a:p>
          <a:p>
            <a:r>
              <a:t>  Long-recovery cytosolic Ca²⁺ collapse — a deYoung-Keizer bistability artefact at sustained stim &gt; 2000 s, fixable.</a:t>
            </a:r>
          </a:p>
          <a:p>
            <a:r>
              <a:t>  P2Y₁₂ / Gi pathway — the inhibitory ADP arm (clopidogrel target), parallel to Gq.</a:t>
            </a:r>
          </a:p>
          <a:p>
            <a:endParaRPr/>
          </a:p>
          <a:p>
            <a:r>
              <a:t>Cross-disciplinary:</a:t>
            </a:r>
          </a:p>
          <a:p>
            <a:r>
              <a:t>  Platelet – tumour interactions in metastasis. Calibrated platelet model could in principle be coupled to a tumour-cell model — relevant to this lab's work.</a:t>
            </a:r>
          </a:p>
          <a:p>
            <a:r>
              <a:t>  Methodology generalises to other single-cell calibration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767</Words>
  <Application>Microsoft Macintosh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IBM Plex Mono</vt:lpstr>
      <vt:lpstr>Source Serif 4</vt:lpstr>
      <vt:lpstr>Source Serif 4 Medium</vt:lpstr>
      <vt:lpstr>STIX Two Math</vt:lpstr>
      <vt:lpstr>Office Theme</vt:lpstr>
      <vt:lpstr>Building a platelet whole-cell model</vt:lpstr>
      <vt:lpstr>Three options. wcEcoli won.</vt:lpstr>
      <vt:lpstr>How a biologist builds a calibrated model</vt:lpstr>
      <vt:lpstr>When the sanity-checks earn their keep</vt:lpstr>
      <vt:lpstr>PowerPoint Presentation</vt:lpstr>
      <vt:lpstr>Validation: Dolan &amp; Diamond 2014 Fig 4</vt:lpstr>
      <vt:lpstr>PowerPoint Presentation</vt:lpstr>
      <vt:lpstr>Where it goes from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theme — paper-serif, Okabe-Ito vermillion</dc:title>
  <dc:subject>PptxGenJS Presentation</dc:subject>
  <dc:creator>Steve Haigh</dc:creator>
  <cp:lastModifiedBy>Steve Haigh</cp:lastModifiedBy>
  <cp:revision>2</cp:revision>
  <dcterms:created xsi:type="dcterms:W3CDTF">2026-05-11T14:50:23Z</dcterms:created>
  <dcterms:modified xsi:type="dcterms:W3CDTF">2026-05-14T12:26:37Z</dcterms:modified>
</cp:coreProperties>
</file>