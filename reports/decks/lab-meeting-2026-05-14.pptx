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67" r:id="rId6"/>
    <p:sldId id="268" r:id="rId7"/>
    <p:sldId id="269" r:id="rId8"/>
    <p:sldId id="259" r:id="rId9"/>
    <p:sldId id="261" r:id="rId10"/>
    <p:sldId id="270" r:id="rId11"/>
    <p:sldId id="271" r:id="rId12"/>
    <p:sldId id="263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53112"/>
  </p:normalViewPr>
  <p:slideViewPr>
    <p:cSldViewPr snapToGrid="0" snapToObjects="1">
      <p:cViewPr varScale="1">
        <p:scale>
          <a:sx n="88" d="100"/>
          <a:sy n="88" d="100"/>
        </p:scale>
        <p:origin x="8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04C31C-37CC-EB43-9AEB-2FF0AB96658B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1B20F5-08AB-5F4B-8A5F-62039F2B0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7374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37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not COPASI or V-Cell?”→great single-pathway ODE tools, no copy-number accounting across compartments.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Cheat sheet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•COPASI — open-source biochemical pathway simulator; great for single-pathway ODE work.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•V-Cell — UConn cell modelling platform; spatial PDE-capable, domain-specific.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•SBML — Systems Biology Markup Language; XML interchange format.•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BioModels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EBI repository of curated SBML models.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wcEcoli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Covert Lab’s whole-cell E. coli model (Karr 2012 lineage; Macklin / SunScience2020).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•State partitioning — how a multi-process simulator divides shared molecule pools (e.g. ATP) be-tween competing processes each timestep.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•Mass balance — every atom of every species accounted for, with compartment-aware bookkeeping.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6002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numerical value carries a primary-source citation comment in the code. 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discipline that catches transcription errors (segues into slide 8). 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 5 is the key one. There are ~85 rate constants in this model; each is a small research project.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•Calibrated model — a model whose parameters are constrained by measurements rather than fitted to the validation experiment.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•Anchor paper — the single paper whose experiment you’ll validate against; defines targets upfront.•IP3R — inositol-1,4,5-trisphosphate receptor; Ca2+release channel on the DTS.•SERCA —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sarco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/endoplasmic-reticulum Ca2+ATPase; pumps Ca2+back into the DTS.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•PMCA — plasma-membrane Ca2+ATPase; pumps Ca2+out of the cell.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•SOCE — store-operated Ca2+entry; STIM1 / Orai1 mechanism that refills depleted stores from extracellular Ca2+.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•DTS — dense tubular system; platelet equivalent of ER, the intracellular Ca2+store.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•Burkhart 2012 — platelet proteomics dataset; absolute copy numbers for ~3,800 platelet proteins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91986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7094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Division of labour: AI does the rote PDF extraction; human do the sanity check.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•Headline claim: 100s of papers a day is reachable; the bottleneck is verification — and verification is also AI-amenable (see slide 8).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•Authorship of the model – primary source /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wcEcoli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me, in that order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•PDF extraction — historically painful for tables and footnotes; modern multimodal LLMs are now reliable on well-formatted tables, less so on figures.</a:t>
            </a:r>
          </a:p>
          <a:p>
            <a:pPr rtl="0"/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•Sanity check — the human step: does the extracted value match the paper’s text? Do the units make sense?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6774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“building the code” means: scaffolding new process modules off the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wcEcoli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template, wiring rate constants into the existing solver, writing unit tests for invariants.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works well, not perfect, will need refactoring before v. next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“Did the AI write code that worked first try?”→no, the back-and-forth is iterative; the AI is a fast scaffolder and a useful pair-programmer, not an oracle.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1668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•Agonist — a signal molecule that activates a platelet (thrombin, ADP, TXA2).•GPCR — G-protein-coupled receptor (PAR1/PAR4 for thrombin; P2Y1 and P2Y12 for ADP).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•Gαq — α-subunit of the heterotrimeric G-protein that activates PLCβ. G (P2Y12) is the inhibitory counterpart.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•PLCβ — phospholipase Cβ; cleaves PIP2→IP3+ DAG.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•IP3— inositol-1,4,5-trisphosphate; the second messenger that gates IP3R.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•NCX / NCLX / MCU — Na+/Ca2+exchanger (PM); Na+/Ca2+/Li+ exchanger (mitochondrial);mitochondrial Ca2+uniporter.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•CaM — calmodulin; cytosolic Ca2+sensor / buffer; activates PMCA at high Ca2+.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•CALR /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BiP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HSP90B1 / CREC — major intra-DTS Ca2+-binding buffers.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•STIM1 / Orai1 — DTS Ca2+sensor + PM channel; the SOCE machinery.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•P2X1 — ATP-gated PM Ca2+channel; ionotropic, not GPCR.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•SCS / OCS — surface-connected (open canalicular) system; the platelet’s invaginated extracellular surface.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•TXA2R — thromboxane A2 receptor; not yet in model.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•PKC — protein kinase C; not yet in model.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6354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Resting state targets — cytosolic Ca2+in 90–110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DTS Ca2+in literature range (100–400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μM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);IP3≈50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nM.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IP3-stimulated transient — the calcium spike following IP3release from the GPCR cascade.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Gαq-active — fraction of Gαq protein in its GTP-bound, active conformation; an upstream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proxyfor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receptor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occupancy.•Unit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 — automated invariant check (e.g. mass balance, positivity, sub-state sum)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14733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B20F5-08AB-5F4B-8A5F-62039F2B03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713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914400"/>
            <a:ext cx="1280160" cy="0"/>
          </a:xfrm>
          <a:prstGeom prst="line">
            <a:avLst/>
          </a:prstGeom>
          <a:noFill/>
          <a:ln w="952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685800" y="10058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talk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685800" y="1554480"/>
            <a:ext cx="9905695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85800" y="3657600"/>
            <a:ext cx="108200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85800" y="22860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6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5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3429000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Shape 0"/>
          <p:cNvSpPr/>
          <p:nvPr/>
        </p:nvSpPr>
        <p:spPr>
          <a:xfrm>
            <a:off x="685800" y="4297680"/>
            <a:ext cx="2011680" cy="0"/>
          </a:xfrm>
          <a:prstGeom prst="line">
            <a:avLst/>
          </a:prstGeom>
          <a:noFill/>
          <a:ln w="9525">
            <a:solidFill>
              <a:srgbClr val="D55E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85800" y="1709928"/>
            <a:ext cx="10820095" cy="450799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UFTE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85800" y="1709928"/>
            <a:ext cx="8115071" cy="450799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7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7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9341876" y="1709928"/>
            <a:ext cx="2164019" cy="450799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1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OUT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868680" y="1984248"/>
            <a:ext cx="36576" cy="2743200"/>
          </a:xfrm>
          <a:prstGeom prst="rect">
            <a:avLst/>
          </a:prstGeom>
          <a:solidFill>
            <a:srgbClr val="D55E0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2"/>
          <p:cNvSpPr>
            <a:spLocks noGrp="1"/>
          </p:cNvSpPr>
          <p:nvPr>
            <p:ph type="body" idx="104" hasCustomPrompt="1"/>
          </p:nvPr>
        </p:nvSpPr>
        <p:spPr>
          <a:xfrm>
            <a:off x="1097280" y="1984248"/>
            <a:ext cx="10225735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100" dirty="0">
                <a:solidFill>
                  <a:srgbClr val="D55E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1097280" y="2368296"/>
            <a:ext cx="10225735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i="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QUATION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2194560"/>
            <a:ext cx="1082009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400" i="1" dirty="0">
                <a:solidFill>
                  <a:srgbClr val="1A1A1A"/>
                </a:solidFill>
                <a:latin typeface="STIX Two Math" pitchFamily="34" charset="0"/>
                <a:ea typeface="STIX Two Math" pitchFamily="34" charset="-122"/>
                <a:cs typeface="STIX Two Math" pitchFamily="34" charset="-120"/>
              </a:defRPr>
            </a:lvl1pPr>
          </a:lstStyle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2057400" y="3749040"/>
            <a:ext cx="807689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i="1" dirty="0">
                <a:solidFill>
                  <a:srgbClr val="6B6B6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COL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820095" cy="0"/>
          </a:xfrm>
          <a:prstGeom prst="line">
            <a:avLst/>
          </a:prstGeom>
          <a:noFill/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85800" y="274320"/>
            <a:ext cx="6492057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1082009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85800" y="1709928"/>
            <a:ext cx="5181448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kern="0" spc="200" dirty="0">
                <a:solidFill>
                  <a:srgbClr val="D55E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85800" y="2057400"/>
            <a:ext cx="5181448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5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24448" y="1709928"/>
            <a:ext cx="5181448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kern="0" spc="200" dirty="0">
                <a:solidFill>
                  <a:srgbClr val="009E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8" name="Text 1"/>
          <p:cNvSpPr>
            <a:spLocks noGrp="1"/>
          </p:cNvSpPr>
          <p:nvPr>
            <p:ph type="body" idx="106" hasCustomPrompt="1"/>
          </p:nvPr>
        </p:nvSpPr>
        <p:spPr>
          <a:xfrm>
            <a:off x="6324448" y="2057400"/>
            <a:ext cx="5181448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500" dirty="0">
                <a:solidFill>
                  <a:srgbClr val="1A1A1A"/>
                </a:solidFill>
                <a:latin typeface="Source Serif 4 Medium" pitchFamily="34" charset="0"/>
                <a:ea typeface="Source Serif 4 Medium" pitchFamily="34" charset="-122"/>
                <a:cs typeface="Source Serif 4 Medium" pitchFamily="34" charset="-120"/>
              </a:defRPr>
            </a:lvl1pPr>
          </a:lstStyle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56032"/>
            <a:ext cx="45720" cy="45720"/>
          </a:xfrm>
          <a:prstGeom prst="rect">
            <a:avLst/>
          </a:prstGeom>
          <a:solidFill>
            <a:srgbClr val="D55E00"/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53796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117" Type="http://schemas.openxmlformats.org/officeDocument/2006/relationships/image" Target="../media/image46.png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image" Target="../media/image13.png"/><Relationship Id="rId89" Type="http://schemas.openxmlformats.org/officeDocument/2006/relationships/image" Target="../media/image18.png"/><Relationship Id="rId112" Type="http://schemas.openxmlformats.org/officeDocument/2006/relationships/image" Target="../media/image41.png"/><Relationship Id="rId16" Type="http://schemas.openxmlformats.org/officeDocument/2006/relationships/tags" Target="../tags/tag16.xml"/><Relationship Id="rId107" Type="http://schemas.openxmlformats.org/officeDocument/2006/relationships/image" Target="../media/image36.png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notesSlide" Target="../notesSlides/notesSlide7.xml"/><Relationship Id="rId79" Type="http://schemas.openxmlformats.org/officeDocument/2006/relationships/image" Target="../media/image8.png"/><Relationship Id="rId102" Type="http://schemas.openxmlformats.org/officeDocument/2006/relationships/image" Target="../media/image31.png"/><Relationship Id="rId123" Type="http://schemas.openxmlformats.org/officeDocument/2006/relationships/image" Target="../media/image52.png"/><Relationship Id="rId5" Type="http://schemas.openxmlformats.org/officeDocument/2006/relationships/tags" Target="../tags/tag5.xml"/><Relationship Id="rId90" Type="http://schemas.openxmlformats.org/officeDocument/2006/relationships/image" Target="../media/image19.png"/><Relationship Id="rId95" Type="http://schemas.openxmlformats.org/officeDocument/2006/relationships/image" Target="../media/image24.png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image" Target="../media/image42.png"/><Relationship Id="rId118" Type="http://schemas.openxmlformats.org/officeDocument/2006/relationships/image" Target="../media/image47.png"/><Relationship Id="rId80" Type="http://schemas.openxmlformats.org/officeDocument/2006/relationships/image" Target="../media/image9.png"/><Relationship Id="rId85" Type="http://schemas.openxmlformats.org/officeDocument/2006/relationships/image" Target="../media/image14.png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image" Target="../media/image32.png"/><Relationship Id="rId108" Type="http://schemas.openxmlformats.org/officeDocument/2006/relationships/image" Target="../media/image37.png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image" Target="../media/image4.png"/><Relationship Id="rId91" Type="http://schemas.openxmlformats.org/officeDocument/2006/relationships/image" Target="../media/image20.png"/><Relationship Id="rId96" Type="http://schemas.openxmlformats.org/officeDocument/2006/relationships/image" Target="../media/image25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image" Target="../media/image43.png"/><Relationship Id="rId119" Type="http://schemas.openxmlformats.org/officeDocument/2006/relationships/image" Target="../media/image48.png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image" Target="../media/image10.png"/><Relationship Id="rId86" Type="http://schemas.openxmlformats.org/officeDocument/2006/relationships/image" Target="../media/image15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image" Target="../media/image38.png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image" Target="../media/image5.png"/><Relationship Id="rId97" Type="http://schemas.openxmlformats.org/officeDocument/2006/relationships/image" Target="../media/image26.png"/><Relationship Id="rId104" Type="http://schemas.openxmlformats.org/officeDocument/2006/relationships/image" Target="../media/image33.png"/><Relationship Id="rId120" Type="http://schemas.openxmlformats.org/officeDocument/2006/relationships/image" Target="../media/image49.png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image" Target="../media/image21.png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image" Target="../media/image16.png"/><Relationship Id="rId110" Type="http://schemas.openxmlformats.org/officeDocument/2006/relationships/image" Target="../media/image39.png"/><Relationship Id="rId115" Type="http://schemas.openxmlformats.org/officeDocument/2006/relationships/image" Target="../media/image44.png"/><Relationship Id="rId61" Type="http://schemas.openxmlformats.org/officeDocument/2006/relationships/tags" Target="../tags/tag61.xml"/><Relationship Id="rId82" Type="http://schemas.openxmlformats.org/officeDocument/2006/relationships/image" Target="../media/image11.png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image" Target="../media/image6.png"/><Relationship Id="rId100" Type="http://schemas.openxmlformats.org/officeDocument/2006/relationships/image" Target="../media/image29.png"/><Relationship Id="rId105" Type="http://schemas.openxmlformats.org/officeDocument/2006/relationships/image" Target="../media/image34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image" Target="../media/image22.png"/><Relationship Id="rId98" Type="http://schemas.openxmlformats.org/officeDocument/2006/relationships/image" Target="../media/image27.png"/><Relationship Id="rId121" Type="http://schemas.openxmlformats.org/officeDocument/2006/relationships/image" Target="../media/image50.png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image" Target="../media/image45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image" Target="../media/image12.png"/><Relationship Id="rId88" Type="http://schemas.openxmlformats.org/officeDocument/2006/relationships/image" Target="../media/image17.png"/><Relationship Id="rId111" Type="http://schemas.openxmlformats.org/officeDocument/2006/relationships/image" Target="../media/image40.png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image" Target="../media/image35.png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slideLayout" Target="../slideLayouts/slideLayout4.xml"/><Relationship Id="rId78" Type="http://schemas.openxmlformats.org/officeDocument/2006/relationships/image" Target="../media/image7.png"/><Relationship Id="rId94" Type="http://schemas.openxmlformats.org/officeDocument/2006/relationships/image" Target="../media/image23.png"/><Relationship Id="rId99" Type="http://schemas.openxmlformats.org/officeDocument/2006/relationships/image" Target="../media/image28.png"/><Relationship Id="rId101" Type="http://schemas.openxmlformats.org/officeDocument/2006/relationships/image" Target="../media/image30.png"/><Relationship Id="rId122" Type="http://schemas.openxmlformats.org/officeDocument/2006/relationships/image" Target="../media/image5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The feasibility of a whole-cell model of the human platelet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Steve Haigh  ·  Dash lab meeting  ·  21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Framework choice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Quick recap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What I evaluated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GB" noProof="1"/>
              <a:t>Aiming to build a computer model of the platelet.</a:t>
            </a:r>
          </a:p>
          <a:p>
            <a:r>
              <a:rPr lang="en-GB" noProof="1"/>
              <a:t>Has been done before in prokaryotes and yeast but not in other eukaryotic cells.</a:t>
            </a:r>
          </a:p>
          <a:p>
            <a:r>
              <a:rPr lang="en-GB" noProof="1"/>
              <a:t>Lots of modelling done in platelets but not a whole-cell attempt.</a:t>
            </a:r>
          </a:p>
          <a:p>
            <a:r>
              <a:rPr lang="en-GB" noProof="1"/>
              <a:t>Lots of options e.g., COPASI, V-Cell and others.</a:t>
            </a:r>
          </a:p>
          <a:p>
            <a:r>
              <a:rPr lang="en-GB" noProof="1"/>
              <a:t>Landed on wcEcoli project from Covert lab – seemed capable of scaling to whole cell, plus code quality was excellent, something I could work with and expand.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lang="en-GB" noProof="1"/>
              <a:t>What I did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rPr lang="en-GB" noProof="1"/>
              <a:t>Forked wcEcoli (i.e., took my own working copy).</a:t>
            </a:r>
          </a:p>
          <a:p>
            <a:r>
              <a:rPr lang="en-GB" noProof="1"/>
              <a:t>Pruned all </a:t>
            </a:r>
            <a:r>
              <a:rPr lang="en-GB" i="1" u="sng" noProof="1"/>
              <a:t>E.coli</a:t>
            </a:r>
            <a:r>
              <a:rPr lang="en-GB" noProof="1"/>
              <a:t> biology.</a:t>
            </a:r>
          </a:p>
          <a:p>
            <a:r>
              <a:rPr lang="en-GB" noProof="1"/>
              <a:t>Used AI to build some tests in code to verify I didn’t remove too much.</a:t>
            </a:r>
          </a:p>
          <a:p>
            <a:r>
              <a:rPr lang="en-GB" noProof="1"/>
              <a:t>Rebuilt cell contents and processes from the platelet literature.</a:t>
            </a:r>
          </a:p>
          <a:p>
            <a:r>
              <a:rPr lang="en-GB" noProof="1"/>
              <a:t>Kept the simulation engine, state partitioning, listener / analysis framework </a:t>
            </a:r>
          </a:p>
          <a:p>
            <a:r>
              <a:rPr lang="en-GB" noProof="1"/>
              <a:t>~5,000 lines of working code I didn't have to write.</a:t>
            </a:r>
          </a:p>
          <a:p>
            <a:r>
              <a:rPr lang="en-GB" noProof="1"/>
              <a:t>Emailed Prof. Covert – “</a:t>
            </a:r>
            <a:r>
              <a:rPr lang="en-GB" i="1" noProof="1"/>
              <a:t>sounds fun, good luck</a:t>
            </a:r>
            <a:r>
              <a:rPr lang="en-GB" noProof="1"/>
              <a:t>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Method to build a calibrated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For each mechanism, a five-step process:</a:t>
            </a:r>
          </a:p>
          <a:p>
            <a:r>
              <a:rPr lang="en-GB" noProof="1"/>
              <a:t>1. Anchor paper. E.g., Dolan &amp; Diamond 2014 supplied the validation experiment (Fig. 4 Ca²⁺ transients ± extracellular Ca²⁺) and resting-state targets (100 nM cyt, 250 µM DTS).</a:t>
            </a:r>
          </a:p>
          <a:p>
            <a:r>
              <a:rPr lang="en-GB" noProof="1"/>
              <a:t>2. Literature review for kinetics. Primary sources: deYoung-Keizer 1992 for IP3R, Caride 2007 for PMCA, Hoover &amp; Lewis 2011 for SOCE, Mazet 2020 for the PI cycle...</a:t>
            </a:r>
          </a:p>
          <a:p>
            <a:r>
              <a:rPr lang="en-GB" noProof="1"/>
              <a:t>3. Species enumeration. Every Ca²⁺-binding or -gating protein state, with a compartment tag (DTS, Cyt etc). ~50 species for the calcium pathway.</a:t>
            </a:r>
          </a:p>
          <a:p>
            <a:r>
              <a:rPr lang="en-GB" noProof="1"/>
              <a:t>4. Copy numbers from Burkhart 2012 platelet proteomics.</a:t>
            </a:r>
          </a:p>
          <a:p>
            <a:r>
              <a:rPr lang="en-GB" noProof="1"/>
              <a:t>5. Rate constants. Primary-source values, units normalised, every value carrying a citation comment in code.</a:t>
            </a:r>
          </a:p>
          <a:p>
            <a:r>
              <a:rPr lang="en-GB" noProof="1"/>
              <a:t>Then: does the resting state hold? Do the timescales line up? Do the unit tests still pass?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7527F9-3697-9CAC-BB83-6CC54C4D0E8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E6E797-D012-AE94-68F7-4251070CA804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Build code from source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FB98E-9901-4072-2AB6-D3E3A657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04" y="2596490"/>
            <a:ext cx="10276926" cy="3575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31ABED-7CDC-BB6F-6E03-29501A27F112}"/>
              </a:ext>
            </a:extLst>
          </p:cNvPr>
          <p:cNvSpPr txBox="1"/>
          <p:nvPr/>
        </p:nvSpPr>
        <p:spPr>
          <a:xfrm>
            <a:off x="726604" y="1718268"/>
            <a:ext cx="6215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Start with the published data (usually PDF, sometimes CSV)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EAAC2-D59E-6666-4645-20320C97A066}"/>
              </a:ext>
            </a:extLst>
          </p:cNvPr>
          <p:cNvSpPr txBox="1"/>
          <p:nvPr/>
        </p:nvSpPr>
        <p:spPr>
          <a:xfrm>
            <a:off x="685800" y="2268362"/>
            <a:ext cx="1723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noProof="1">
                <a:solidFill>
                  <a:schemeClr val="accent2"/>
                </a:solidFill>
                <a:latin typeface="IBM Plex Mono" panose="020B0509050203000203" pitchFamily="49" charset="77"/>
              </a:rPr>
              <a:t>Just a small excerpt</a:t>
            </a:r>
          </a:p>
        </p:txBody>
      </p:sp>
    </p:spTree>
    <p:extLst>
      <p:ext uri="{BB962C8B-B14F-4D97-AF65-F5344CB8AC3E}">
        <p14:creationId xmlns:p14="http://schemas.microsoft.com/office/powerpoint/2010/main" val="283202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1ADDE-4B10-4898-EB0A-8E4F44B38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FE2F67-0EEF-229E-1DC1-0B1A70B06F5E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432A35-93E3-3EF1-2C72-2C558D84CF17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Build code from source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F52E79-EA4C-7CFC-3DC1-CAF43B39624D}"/>
              </a:ext>
            </a:extLst>
          </p:cNvPr>
          <p:cNvSpPr txBox="1"/>
          <p:nvPr/>
        </p:nvSpPr>
        <p:spPr>
          <a:xfrm>
            <a:off x="685800" y="1737583"/>
            <a:ext cx="99245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Ask AI to extract – get it to tell you what it’s doing to sanity check (but it is VERY good at this)</a:t>
            </a:r>
          </a:p>
          <a:p>
            <a:endParaRPr lang="en-GB" noProof="1">
              <a:latin typeface="Source Serif 4 Medium" panose="02040603050405020204" pitchFamily="18" charset="0"/>
              <a:ea typeface="Source Serif 4 Medium" panose="02040603050405020204" pitchFamily="18" charset="0"/>
            </a:endParaRPr>
          </a:p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E.g. I asked “</a:t>
            </a:r>
            <a:r>
              <a:rPr lang="en-GB" i="1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Please read Dolan and Diamond 2014 and tell me what the first 5 lines of table 1 show</a:t>
            </a:r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EE666F-FC5D-3722-EB67-590CF79B45CF}"/>
              </a:ext>
            </a:extLst>
          </p:cNvPr>
          <p:cNvSpPr txBox="1"/>
          <p:nvPr/>
        </p:nvSpPr>
        <p:spPr>
          <a:xfrm>
            <a:off x="894303" y="2381459"/>
            <a:ext cx="184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200" noProof="1">
              <a:latin typeface="Andale Mono" panose="020B050900000000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DB1DBC-D482-FE0F-4AD2-3CD032F3F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39107"/>
            <a:ext cx="10886937" cy="24246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6CFEE4-7051-3E4B-935B-7D42F797C1E2}"/>
              </a:ext>
            </a:extLst>
          </p:cNvPr>
          <p:cNvSpPr txBox="1"/>
          <p:nvPr/>
        </p:nvSpPr>
        <p:spPr>
          <a:xfrm>
            <a:off x="685800" y="5935680"/>
            <a:ext cx="108869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Simply not feasible to do this by hand at large scale, AI could process 100s of papers in a day. The only challenge is verification, but this is also amenable to AI assistance.</a:t>
            </a:r>
          </a:p>
        </p:txBody>
      </p:sp>
    </p:spTree>
    <p:extLst>
      <p:ext uri="{BB962C8B-B14F-4D97-AF65-F5344CB8AC3E}">
        <p14:creationId xmlns:p14="http://schemas.microsoft.com/office/powerpoint/2010/main" val="1967655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61329-4A01-12DD-7F48-92F574FBC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0AE830-5776-FCD1-E3E1-433CF5DBBD0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Methodology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2492B2-9083-A46D-9E57-C6338F09550F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Build code from source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83BF61-7F3E-88CF-EBDF-8AC1F28F13A3}"/>
              </a:ext>
            </a:extLst>
          </p:cNvPr>
          <p:cNvSpPr txBox="1"/>
          <p:nvPr/>
        </p:nvSpPr>
        <p:spPr>
          <a:xfrm>
            <a:off x="685800" y="1655746"/>
            <a:ext cx="705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Then get AI to build the code, using the wcEcoli code as a template.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E8B556-CFB5-C9F4-BAF3-1883D092D9C6}"/>
              </a:ext>
            </a:extLst>
          </p:cNvPr>
          <p:cNvSpPr txBox="1"/>
          <p:nvPr/>
        </p:nvSpPr>
        <p:spPr>
          <a:xfrm>
            <a:off x="763675" y="6034818"/>
            <a:ext cx="9881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The code works well, the architecture is not perfect, needs some work to make it more usable </a:t>
            </a:r>
          </a:p>
          <a:p>
            <a:r>
              <a:rPr lang="en-GB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for future expansion but it’s an excellent start.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2CB9C0-94B8-4881-E711-E10E6E654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329" y="2073668"/>
            <a:ext cx="8045607" cy="396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21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44F7D6-7889-7F6C-790B-47CB079EE71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1B7BDA7-B35D-448D-B64F-7AA1574582C4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What did I build? (so far)</a:t>
            </a:r>
          </a:p>
        </p:txBody>
      </p:sp>
      <p:pic>
        <p:nvPicPr>
          <p:cNvPr id="101" name="Image 0" descr="preencoded.png">
            <a:extLst>
              <a:ext uri="{FF2B5EF4-FFF2-40B4-BE49-F238E27FC236}">
                <a16:creationId xmlns:a16="http://schemas.microsoft.com/office/drawing/2014/main" id="{0992412A-FB7C-BDF9-F3D8-A6EBCD78DA0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5"/>
          <a:stretch>
            <a:fillRect/>
          </a:stretch>
        </p:blipFill>
        <p:spPr>
          <a:xfrm>
            <a:off x="2673000" y="1904676"/>
            <a:ext cx="6117336" cy="4553712"/>
          </a:xfrm>
          <a:prstGeom prst="rect">
            <a:avLst/>
          </a:prstGeom>
        </p:spPr>
      </p:pic>
      <p:pic>
        <p:nvPicPr>
          <p:cNvPr id="102" name="Image 1" descr="preencoded.png">
            <a:extLst>
              <a:ext uri="{FF2B5EF4-FFF2-40B4-BE49-F238E27FC236}">
                <a16:creationId xmlns:a16="http://schemas.microsoft.com/office/drawing/2014/main" id="{A4F07A1F-778A-002E-EBE7-7C83A5C2D7C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6"/>
          <a:stretch>
            <a:fillRect/>
          </a:stretch>
        </p:blipFill>
        <p:spPr>
          <a:xfrm>
            <a:off x="6824047" y="2029399"/>
            <a:ext cx="902208" cy="856488"/>
          </a:xfrm>
          <a:prstGeom prst="rect">
            <a:avLst/>
          </a:prstGeom>
        </p:spPr>
      </p:pic>
      <p:pic>
        <p:nvPicPr>
          <p:cNvPr id="103" name="Image 2" descr="preencoded.png">
            <a:extLst>
              <a:ext uri="{FF2B5EF4-FFF2-40B4-BE49-F238E27FC236}">
                <a16:creationId xmlns:a16="http://schemas.microsoft.com/office/drawing/2014/main" id="{6355BCF4-ABA8-750D-0203-A233404C663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7"/>
          <a:stretch>
            <a:fillRect/>
          </a:stretch>
        </p:blipFill>
        <p:spPr>
          <a:xfrm>
            <a:off x="5558165" y="1872836"/>
            <a:ext cx="701040" cy="591312"/>
          </a:xfrm>
          <a:prstGeom prst="rect">
            <a:avLst/>
          </a:prstGeom>
        </p:spPr>
      </p:pic>
      <p:sp>
        <p:nvSpPr>
          <p:cNvPr id="104" name="Text 0">
            <a:extLst>
              <a:ext uri="{FF2B5EF4-FFF2-40B4-BE49-F238E27FC236}">
                <a16:creationId xmlns:a16="http://schemas.microsoft.com/office/drawing/2014/main" id="{EDF64CCE-16E6-09A8-90CF-671BE40C990F}"/>
              </a:ext>
            </a:extLst>
          </p:cNvPr>
          <p:cNvSpPr/>
          <p:nvPr/>
        </p:nvSpPr>
        <p:spPr>
          <a:xfrm>
            <a:off x="7289056" y="1717017"/>
            <a:ext cx="600946" cy="17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GB" sz="1089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Thrombin</a:t>
            </a:r>
            <a:endParaRPr lang="en-GB" sz="1089" noProof="1"/>
          </a:p>
        </p:txBody>
      </p:sp>
      <p:pic>
        <p:nvPicPr>
          <p:cNvPr id="105" name="Image 3" descr="preencoded.png">
            <a:extLst>
              <a:ext uri="{FF2B5EF4-FFF2-40B4-BE49-F238E27FC236}">
                <a16:creationId xmlns:a16="http://schemas.microsoft.com/office/drawing/2014/main" id="{4C526F29-C97F-9CCD-6672-A3E54A024C3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78"/>
          <a:stretch>
            <a:fillRect/>
          </a:stretch>
        </p:blipFill>
        <p:spPr>
          <a:xfrm>
            <a:off x="2921342" y="3624498"/>
            <a:ext cx="408432" cy="438912"/>
          </a:xfrm>
          <a:prstGeom prst="rect">
            <a:avLst/>
          </a:prstGeom>
        </p:spPr>
      </p:pic>
      <p:pic>
        <p:nvPicPr>
          <p:cNvPr id="106" name="Image 4" descr="preencoded.png">
            <a:extLst>
              <a:ext uri="{FF2B5EF4-FFF2-40B4-BE49-F238E27FC236}">
                <a16:creationId xmlns:a16="http://schemas.microsoft.com/office/drawing/2014/main" id="{CBC56FDE-D954-125E-6714-DF3AC64AE845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9"/>
          <a:stretch>
            <a:fillRect/>
          </a:stretch>
        </p:blipFill>
        <p:spPr>
          <a:xfrm>
            <a:off x="2980547" y="3568723"/>
            <a:ext cx="804672" cy="637032"/>
          </a:xfrm>
          <a:prstGeom prst="rect">
            <a:avLst/>
          </a:prstGeom>
        </p:spPr>
      </p:pic>
      <p:pic>
        <p:nvPicPr>
          <p:cNvPr id="107" name="Image 5" descr="preencoded.png">
            <a:extLst>
              <a:ext uri="{FF2B5EF4-FFF2-40B4-BE49-F238E27FC236}">
                <a16:creationId xmlns:a16="http://schemas.microsoft.com/office/drawing/2014/main" id="{07DEBE16-259B-B3E6-693F-1806220D8B3C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80"/>
          <a:stretch>
            <a:fillRect/>
          </a:stretch>
        </p:blipFill>
        <p:spPr>
          <a:xfrm>
            <a:off x="3121602" y="2992829"/>
            <a:ext cx="493776" cy="505968"/>
          </a:xfrm>
          <a:prstGeom prst="rect">
            <a:avLst/>
          </a:prstGeom>
        </p:spPr>
      </p:pic>
      <p:sp>
        <p:nvSpPr>
          <p:cNvPr id="108" name="Text 1">
            <a:extLst>
              <a:ext uri="{FF2B5EF4-FFF2-40B4-BE49-F238E27FC236}">
                <a16:creationId xmlns:a16="http://schemas.microsoft.com/office/drawing/2014/main" id="{A4817208-A4F8-402D-56FF-489F28FF3FF3}"/>
              </a:ext>
            </a:extLst>
          </p:cNvPr>
          <p:cNvSpPr/>
          <p:nvPr/>
        </p:nvSpPr>
        <p:spPr>
          <a:xfrm>
            <a:off x="6269642" y="1628538"/>
            <a:ext cx="530335" cy="385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ADP</a:t>
            </a:r>
            <a:endParaRPr lang="en-GB" sz="1100" noProof="1"/>
          </a:p>
        </p:txBody>
      </p:sp>
      <p:sp>
        <p:nvSpPr>
          <p:cNvPr id="109" name="Text 2">
            <a:extLst>
              <a:ext uri="{FF2B5EF4-FFF2-40B4-BE49-F238E27FC236}">
                <a16:creationId xmlns:a16="http://schemas.microsoft.com/office/drawing/2014/main" id="{3B3E4C1C-9B81-79CE-444E-16AB4E28FBFF}"/>
              </a:ext>
            </a:extLst>
          </p:cNvPr>
          <p:cNvSpPr/>
          <p:nvPr/>
        </p:nvSpPr>
        <p:spPr>
          <a:xfrm>
            <a:off x="5559824" y="2494212"/>
            <a:ext cx="708872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P2Y</a:t>
            </a:r>
            <a:r>
              <a:rPr lang="en-GB" sz="1100" baseline="-400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GB" sz="1100" noProof="1"/>
          </a:p>
        </p:txBody>
      </p:sp>
      <p:sp>
        <p:nvSpPr>
          <p:cNvPr id="110" name="Text 3">
            <a:extLst>
              <a:ext uri="{FF2B5EF4-FFF2-40B4-BE49-F238E27FC236}">
                <a16:creationId xmlns:a16="http://schemas.microsoft.com/office/drawing/2014/main" id="{08991090-3204-7F96-11CF-091D5EA23937}"/>
              </a:ext>
            </a:extLst>
          </p:cNvPr>
          <p:cNvSpPr/>
          <p:nvPr/>
        </p:nvSpPr>
        <p:spPr>
          <a:xfrm>
            <a:off x="6368779" y="2565488"/>
            <a:ext cx="752883" cy="21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PAR1/PAR4</a:t>
            </a:r>
            <a:endParaRPr lang="en-GB" sz="1100" noProof="1"/>
          </a:p>
        </p:txBody>
      </p:sp>
      <p:pic>
        <p:nvPicPr>
          <p:cNvPr id="111" name="Image 6" descr="preencoded.png">
            <a:extLst>
              <a:ext uri="{FF2B5EF4-FFF2-40B4-BE49-F238E27FC236}">
                <a16:creationId xmlns:a16="http://schemas.microsoft.com/office/drawing/2014/main" id="{014D4405-BA21-55BC-6E21-D7E20080C052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1"/>
          <a:stretch>
            <a:fillRect/>
          </a:stretch>
        </p:blipFill>
        <p:spPr>
          <a:xfrm>
            <a:off x="4016761" y="4970658"/>
            <a:ext cx="216408" cy="216408"/>
          </a:xfrm>
          <a:prstGeom prst="rect">
            <a:avLst/>
          </a:prstGeom>
        </p:spPr>
      </p:pic>
      <p:sp>
        <p:nvSpPr>
          <p:cNvPr id="112" name="Text 4">
            <a:extLst>
              <a:ext uri="{FF2B5EF4-FFF2-40B4-BE49-F238E27FC236}">
                <a16:creationId xmlns:a16="http://schemas.microsoft.com/office/drawing/2014/main" id="{62832A19-7C97-F92F-78CE-8318B7414EF9}"/>
              </a:ext>
            </a:extLst>
          </p:cNvPr>
          <p:cNvSpPr/>
          <p:nvPr/>
        </p:nvSpPr>
        <p:spPr>
          <a:xfrm>
            <a:off x="4079228" y="5055626"/>
            <a:ext cx="100616" cy="6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378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</a:t>
            </a:r>
            <a:r>
              <a:rPr lang="en-GB" sz="378" baseline="30000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2+</a:t>
            </a:r>
            <a:endParaRPr lang="en-GB" sz="378" noProof="1"/>
          </a:p>
        </p:txBody>
      </p:sp>
      <p:pic>
        <p:nvPicPr>
          <p:cNvPr id="113" name="Image 7" descr="preencoded.png">
            <a:extLst>
              <a:ext uri="{FF2B5EF4-FFF2-40B4-BE49-F238E27FC236}">
                <a16:creationId xmlns:a16="http://schemas.microsoft.com/office/drawing/2014/main" id="{875E72E3-56DC-F223-7433-7FED031FF7EF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82"/>
          <a:stretch>
            <a:fillRect/>
          </a:stretch>
        </p:blipFill>
        <p:spPr>
          <a:xfrm>
            <a:off x="4716789" y="5001974"/>
            <a:ext cx="216408" cy="216408"/>
          </a:xfrm>
          <a:prstGeom prst="rect">
            <a:avLst/>
          </a:prstGeom>
        </p:spPr>
      </p:pic>
      <p:pic>
        <p:nvPicPr>
          <p:cNvPr id="114" name="Image 8" descr="preencoded.png">
            <a:extLst>
              <a:ext uri="{FF2B5EF4-FFF2-40B4-BE49-F238E27FC236}">
                <a16:creationId xmlns:a16="http://schemas.microsoft.com/office/drawing/2014/main" id="{CF63F85C-277A-EC51-4D49-16D513EE1276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83"/>
          <a:stretch>
            <a:fillRect/>
          </a:stretch>
        </p:blipFill>
        <p:spPr>
          <a:xfrm>
            <a:off x="5795970" y="2695644"/>
            <a:ext cx="432816" cy="301752"/>
          </a:xfrm>
          <a:prstGeom prst="rect">
            <a:avLst/>
          </a:prstGeom>
        </p:spPr>
      </p:pic>
      <p:pic>
        <p:nvPicPr>
          <p:cNvPr id="115" name="Image 9" descr="preencoded.png">
            <a:extLst>
              <a:ext uri="{FF2B5EF4-FFF2-40B4-BE49-F238E27FC236}">
                <a16:creationId xmlns:a16="http://schemas.microsoft.com/office/drawing/2014/main" id="{B86E2D70-A47C-0C32-BB97-187ACE9844E0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84"/>
          <a:stretch>
            <a:fillRect/>
          </a:stretch>
        </p:blipFill>
        <p:spPr>
          <a:xfrm>
            <a:off x="5728840" y="3162645"/>
            <a:ext cx="478536" cy="301752"/>
          </a:xfrm>
          <a:prstGeom prst="rect">
            <a:avLst/>
          </a:prstGeom>
        </p:spPr>
      </p:pic>
      <p:pic>
        <p:nvPicPr>
          <p:cNvPr id="116" name="Image 10" descr="preencoded.png">
            <a:extLst>
              <a:ext uri="{FF2B5EF4-FFF2-40B4-BE49-F238E27FC236}">
                <a16:creationId xmlns:a16="http://schemas.microsoft.com/office/drawing/2014/main" id="{F2BD62AF-D9CA-99AB-828F-5565A00F2067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85"/>
          <a:stretch>
            <a:fillRect/>
          </a:stretch>
        </p:blipFill>
        <p:spPr>
          <a:xfrm>
            <a:off x="5722124" y="3489612"/>
            <a:ext cx="478536" cy="301752"/>
          </a:xfrm>
          <a:prstGeom prst="rect">
            <a:avLst/>
          </a:prstGeom>
        </p:spPr>
      </p:pic>
      <p:pic>
        <p:nvPicPr>
          <p:cNvPr id="117" name="Image 11" descr="preencoded.png">
            <a:extLst>
              <a:ext uri="{FF2B5EF4-FFF2-40B4-BE49-F238E27FC236}">
                <a16:creationId xmlns:a16="http://schemas.microsoft.com/office/drawing/2014/main" id="{D15136F4-5D09-AA75-DE6E-3E646E7E1AD5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86"/>
          <a:stretch>
            <a:fillRect/>
          </a:stretch>
        </p:blipFill>
        <p:spPr>
          <a:xfrm>
            <a:off x="5722124" y="3820664"/>
            <a:ext cx="478536" cy="301752"/>
          </a:xfrm>
          <a:prstGeom prst="rect">
            <a:avLst/>
          </a:prstGeom>
        </p:spPr>
      </p:pic>
      <p:pic>
        <p:nvPicPr>
          <p:cNvPr id="118" name="Image 12" descr="preencoded.png">
            <a:extLst>
              <a:ext uri="{FF2B5EF4-FFF2-40B4-BE49-F238E27FC236}">
                <a16:creationId xmlns:a16="http://schemas.microsoft.com/office/drawing/2014/main" id="{6284CCE4-88A7-4DBA-DC6B-6342D23ABB90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87"/>
          <a:stretch>
            <a:fillRect/>
          </a:stretch>
        </p:blipFill>
        <p:spPr>
          <a:xfrm>
            <a:off x="5737840" y="2832720"/>
            <a:ext cx="435864" cy="301752"/>
          </a:xfrm>
          <a:prstGeom prst="rect">
            <a:avLst/>
          </a:prstGeom>
        </p:spPr>
      </p:pic>
      <p:pic>
        <p:nvPicPr>
          <p:cNvPr id="119" name="Image 13" descr="preencoded.png">
            <a:extLst>
              <a:ext uri="{FF2B5EF4-FFF2-40B4-BE49-F238E27FC236}">
                <a16:creationId xmlns:a16="http://schemas.microsoft.com/office/drawing/2014/main" id="{62801037-DB5F-3439-2FCD-2DFB103C3B79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88"/>
          <a:stretch>
            <a:fillRect/>
          </a:stretch>
        </p:blipFill>
        <p:spPr>
          <a:xfrm>
            <a:off x="5394578" y="3525773"/>
            <a:ext cx="381000" cy="301752"/>
          </a:xfrm>
          <a:prstGeom prst="rect">
            <a:avLst/>
          </a:prstGeom>
        </p:spPr>
      </p:pic>
      <p:pic>
        <p:nvPicPr>
          <p:cNvPr id="120" name="Image 14" descr="preencoded.png">
            <a:extLst>
              <a:ext uri="{FF2B5EF4-FFF2-40B4-BE49-F238E27FC236}">
                <a16:creationId xmlns:a16="http://schemas.microsoft.com/office/drawing/2014/main" id="{E5FE8955-0F27-71E6-85AA-F8B8C4FD1ACD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9"/>
          <a:stretch>
            <a:fillRect/>
          </a:stretch>
        </p:blipFill>
        <p:spPr>
          <a:xfrm>
            <a:off x="5896996" y="2333845"/>
            <a:ext cx="161544" cy="509016"/>
          </a:xfrm>
          <a:prstGeom prst="rect">
            <a:avLst/>
          </a:prstGeom>
        </p:spPr>
      </p:pic>
      <p:pic>
        <p:nvPicPr>
          <p:cNvPr id="121" name="Image 15" descr="preencoded.png">
            <a:extLst>
              <a:ext uri="{FF2B5EF4-FFF2-40B4-BE49-F238E27FC236}">
                <a16:creationId xmlns:a16="http://schemas.microsoft.com/office/drawing/2014/main" id="{27F8D334-3AAD-24AA-AB44-99BF0C2693E8}"/>
              </a:ext>
            </a:extLst>
          </p:cNvPr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90"/>
          <a:stretch>
            <a:fillRect/>
          </a:stretch>
        </p:blipFill>
        <p:spPr>
          <a:xfrm>
            <a:off x="5887335" y="2979006"/>
            <a:ext cx="161544" cy="335280"/>
          </a:xfrm>
          <a:prstGeom prst="rect">
            <a:avLst/>
          </a:prstGeom>
        </p:spPr>
      </p:pic>
      <p:pic>
        <p:nvPicPr>
          <p:cNvPr id="122" name="Image 16" descr="preencoded.png">
            <a:extLst>
              <a:ext uri="{FF2B5EF4-FFF2-40B4-BE49-F238E27FC236}">
                <a16:creationId xmlns:a16="http://schemas.microsoft.com/office/drawing/2014/main" id="{7E8DAD3E-FD57-EB34-6290-43988E83914A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90"/>
          <a:stretch>
            <a:fillRect/>
          </a:stretch>
        </p:blipFill>
        <p:spPr>
          <a:xfrm>
            <a:off x="5887338" y="3307117"/>
            <a:ext cx="161544" cy="335280"/>
          </a:xfrm>
          <a:prstGeom prst="rect">
            <a:avLst/>
          </a:prstGeom>
        </p:spPr>
      </p:pic>
      <p:pic>
        <p:nvPicPr>
          <p:cNvPr id="123" name="Image 17" descr="preencoded.png">
            <a:extLst>
              <a:ext uri="{FF2B5EF4-FFF2-40B4-BE49-F238E27FC236}">
                <a16:creationId xmlns:a16="http://schemas.microsoft.com/office/drawing/2014/main" id="{2F7CA36D-AF22-5541-67D9-6DBC9550F70E}"/>
              </a:ext>
            </a:extLst>
          </p:cNvPr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91"/>
          <a:stretch>
            <a:fillRect/>
          </a:stretch>
        </p:blipFill>
        <p:spPr>
          <a:xfrm>
            <a:off x="5887338" y="3637869"/>
            <a:ext cx="161544" cy="335280"/>
          </a:xfrm>
          <a:prstGeom prst="rect">
            <a:avLst/>
          </a:prstGeom>
        </p:spPr>
      </p:pic>
      <p:pic>
        <p:nvPicPr>
          <p:cNvPr id="124" name="Image 18" descr="preencoded.png">
            <a:extLst>
              <a:ext uri="{FF2B5EF4-FFF2-40B4-BE49-F238E27FC236}">
                <a16:creationId xmlns:a16="http://schemas.microsoft.com/office/drawing/2014/main" id="{26ED3E90-D87A-E1EB-91E9-0451ABD67468}"/>
              </a:ext>
            </a:extLst>
          </p:cNvPr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92"/>
          <a:stretch>
            <a:fillRect/>
          </a:stretch>
        </p:blipFill>
        <p:spPr>
          <a:xfrm>
            <a:off x="6062330" y="2153559"/>
            <a:ext cx="1246632" cy="1243584"/>
          </a:xfrm>
          <a:prstGeom prst="rect">
            <a:avLst/>
          </a:prstGeom>
        </p:spPr>
      </p:pic>
      <p:sp>
        <p:nvSpPr>
          <p:cNvPr id="125" name="Text 5">
            <a:extLst>
              <a:ext uri="{FF2B5EF4-FFF2-40B4-BE49-F238E27FC236}">
                <a16:creationId xmlns:a16="http://schemas.microsoft.com/office/drawing/2014/main" id="{8594F1BD-F28E-60A2-6422-C2BA2ED1D6A3}"/>
              </a:ext>
            </a:extLst>
          </p:cNvPr>
          <p:cNvSpPr/>
          <p:nvPr/>
        </p:nvSpPr>
        <p:spPr>
          <a:xfrm>
            <a:off x="6642205" y="3656301"/>
            <a:ext cx="481425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NCLX</a:t>
            </a:r>
            <a:endParaRPr lang="en-GB" sz="1100" noProof="1"/>
          </a:p>
        </p:txBody>
      </p:sp>
      <p:pic>
        <p:nvPicPr>
          <p:cNvPr id="126" name="Image 19" descr="preencoded.png">
            <a:extLst>
              <a:ext uri="{FF2B5EF4-FFF2-40B4-BE49-F238E27FC236}">
                <a16:creationId xmlns:a16="http://schemas.microsoft.com/office/drawing/2014/main" id="{C3C2EA3C-5BAC-0A74-A0B5-4FD7B68AE78A}"/>
              </a:ext>
            </a:extLst>
          </p:cNvPr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93"/>
          <a:stretch>
            <a:fillRect/>
          </a:stretch>
        </p:blipFill>
        <p:spPr>
          <a:xfrm>
            <a:off x="5312650" y="3673367"/>
            <a:ext cx="320040" cy="880872"/>
          </a:xfrm>
          <a:prstGeom prst="rect">
            <a:avLst/>
          </a:prstGeom>
        </p:spPr>
      </p:pic>
      <p:pic>
        <p:nvPicPr>
          <p:cNvPr id="127" name="Image 20" descr="preencoded.png">
            <a:extLst>
              <a:ext uri="{FF2B5EF4-FFF2-40B4-BE49-F238E27FC236}">
                <a16:creationId xmlns:a16="http://schemas.microsoft.com/office/drawing/2014/main" id="{D6E1A091-A8E6-1430-0A3D-995E68C6C2A2}"/>
              </a:ext>
            </a:extLst>
          </p:cNvPr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94"/>
          <a:stretch>
            <a:fillRect/>
          </a:stretch>
        </p:blipFill>
        <p:spPr>
          <a:xfrm>
            <a:off x="5537877" y="3266151"/>
            <a:ext cx="350520" cy="405384"/>
          </a:xfrm>
          <a:prstGeom prst="rect">
            <a:avLst/>
          </a:prstGeom>
        </p:spPr>
      </p:pic>
      <p:pic>
        <p:nvPicPr>
          <p:cNvPr id="128" name="Image 21" descr="preencoded.png">
            <a:extLst>
              <a:ext uri="{FF2B5EF4-FFF2-40B4-BE49-F238E27FC236}">
                <a16:creationId xmlns:a16="http://schemas.microsoft.com/office/drawing/2014/main" id="{D7387B8B-1D54-9061-2395-80727B0272B8}"/>
              </a:ext>
            </a:extLst>
          </p:cNvPr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95"/>
          <a:stretch>
            <a:fillRect/>
          </a:stretch>
        </p:blipFill>
        <p:spPr>
          <a:xfrm>
            <a:off x="7172134" y="5424061"/>
            <a:ext cx="701040" cy="704088"/>
          </a:xfrm>
          <a:prstGeom prst="rect">
            <a:avLst/>
          </a:prstGeom>
        </p:spPr>
      </p:pic>
      <p:sp>
        <p:nvSpPr>
          <p:cNvPr id="129" name="Text 6">
            <a:extLst>
              <a:ext uri="{FF2B5EF4-FFF2-40B4-BE49-F238E27FC236}">
                <a16:creationId xmlns:a16="http://schemas.microsoft.com/office/drawing/2014/main" id="{191684FC-FD9B-6587-8CA1-3EEA22735063}"/>
              </a:ext>
            </a:extLst>
          </p:cNvPr>
          <p:cNvSpPr/>
          <p:nvPr/>
        </p:nvSpPr>
        <p:spPr>
          <a:xfrm>
            <a:off x="6972194" y="5415601"/>
            <a:ext cx="735338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PMCA</a:t>
            </a:r>
            <a:endParaRPr lang="en-GB" sz="1100" noProof="1"/>
          </a:p>
        </p:txBody>
      </p:sp>
      <p:sp>
        <p:nvSpPr>
          <p:cNvPr id="130" name="Text 7">
            <a:extLst>
              <a:ext uri="{FF2B5EF4-FFF2-40B4-BE49-F238E27FC236}">
                <a16:creationId xmlns:a16="http://schemas.microsoft.com/office/drawing/2014/main" id="{F97690CA-9BE5-3979-00DC-634B36F617BF}"/>
              </a:ext>
            </a:extLst>
          </p:cNvPr>
          <p:cNvSpPr/>
          <p:nvPr/>
        </p:nvSpPr>
        <p:spPr>
          <a:xfrm>
            <a:off x="6245997" y="5738310"/>
            <a:ext cx="735338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NCX</a:t>
            </a:r>
            <a:endParaRPr lang="en-GB" sz="1100" noProof="1"/>
          </a:p>
        </p:txBody>
      </p:sp>
      <p:pic>
        <p:nvPicPr>
          <p:cNvPr id="131" name="Image 22" descr="preencoded.png">
            <a:extLst>
              <a:ext uri="{FF2B5EF4-FFF2-40B4-BE49-F238E27FC236}">
                <a16:creationId xmlns:a16="http://schemas.microsoft.com/office/drawing/2014/main" id="{D7F9C723-9C50-29C0-2D77-83188554EABD}"/>
              </a:ext>
            </a:extLst>
      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96"/>
          <a:stretch>
            <a:fillRect/>
          </a:stretch>
        </p:blipFill>
        <p:spPr>
          <a:xfrm>
            <a:off x="3484706" y="4053056"/>
            <a:ext cx="1917192" cy="1868424"/>
          </a:xfrm>
          <a:prstGeom prst="rect">
            <a:avLst/>
          </a:prstGeom>
        </p:spPr>
      </p:pic>
      <p:pic>
        <p:nvPicPr>
          <p:cNvPr id="132" name="Image 23" descr="preencoded.png">
            <a:extLst>
              <a:ext uri="{FF2B5EF4-FFF2-40B4-BE49-F238E27FC236}">
                <a16:creationId xmlns:a16="http://schemas.microsoft.com/office/drawing/2014/main" id="{AB4B7B30-1C78-B512-5066-2BC270DD5EB6}"/>
              </a:ext>
            </a:extLst>
          </p:cNvPr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97"/>
          <a:stretch>
            <a:fillRect/>
          </a:stretch>
        </p:blipFill>
        <p:spPr>
          <a:xfrm>
            <a:off x="4838848" y="5137674"/>
            <a:ext cx="606552" cy="569976"/>
          </a:xfrm>
          <a:prstGeom prst="rect">
            <a:avLst/>
          </a:prstGeom>
        </p:spPr>
      </p:pic>
      <p:pic>
        <p:nvPicPr>
          <p:cNvPr id="133" name="Image 24" descr="preencoded.png">
            <a:extLst>
              <a:ext uri="{FF2B5EF4-FFF2-40B4-BE49-F238E27FC236}">
                <a16:creationId xmlns:a16="http://schemas.microsoft.com/office/drawing/2014/main" id="{2B92124C-E4D6-643A-B67A-DF8D07838611}"/>
              </a:ext>
            </a:extLst>
          </p:cNvPr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98"/>
          <a:stretch>
            <a:fillRect/>
          </a:stretch>
        </p:blipFill>
        <p:spPr>
          <a:xfrm>
            <a:off x="3976209" y="4386795"/>
            <a:ext cx="539496" cy="237744"/>
          </a:xfrm>
          <a:prstGeom prst="rect">
            <a:avLst/>
          </a:prstGeom>
        </p:spPr>
      </p:pic>
      <p:sp>
        <p:nvSpPr>
          <p:cNvPr id="134" name="Text 8">
            <a:extLst>
              <a:ext uri="{FF2B5EF4-FFF2-40B4-BE49-F238E27FC236}">
                <a16:creationId xmlns:a16="http://schemas.microsoft.com/office/drawing/2014/main" id="{33CD1F94-2981-5807-4A3B-4737580448C8}"/>
              </a:ext>
            </a:extLst>
          </p:cNvPr>
          <p:cNvSpPr/>
          <p:nvPr/>
        </p:nvSpPr>
        <p:spPr>
          <a:xfrm>
            <a:off x="4910159" y="5658078"/>
            <a:ext cx="735338" cy="328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SERCA</a:t>
            </a:r>
            <a:endParaRPr lang="en-GB" sz="1100" noProof="1"/>
          </a:p>
          <a:p>
            <a:pPr marL="0" indent="0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GB" sz="1100" noProof="1"/>
          </a:p>
        </p:txBody>
      </p:sp>
      <p:sp>
        <p:nvSpPr>
          <p:cNvPr id="135" name="Text 9">
            <a:extLst>
              <a:ext uri="{FF2B5EF4-FFF2-40B4-BE49-F238E27FC236}">
                <a16:creationId xmlns:a16="http://schemas.microsoft.com/office/drawing/2014/main" id="{B774D7C9-CDF5-7AF6-0136-89AB2808AEB9}"/>
              </a:ext>
            </a:extLst>
          </p:cNvPr>
          <p:cNvSpPr/>
          <p:nvPr/>
        </p:nvSpPr>
        <p:spPr>
          <a:xfrm>
            <a:off x="6118198" y="3751118"/>
            <a:ext cx="631296" cy="256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600" i="1" noProof="1">
                <a:solidFill>
                  <a:srgbClr val="70707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(PKC not yet in model)</a:t>
            </a:r>
            <a:endParaRPr lang="en-GB" sz="600" noProof="1"/>
          </a:p>
        </p:txBody>
      </p:sp>
      <p:pic>
        <p:nvPicPr>
          <p:cNvPr id="136" name="Image 25" descr="preencoded.png">
            <a:extLst>
              <a:ext uri="{FF2B5EF4-FFF2-40B4-BE49-F238E27FC236}">
                <a16:creationId xmlns:a16="http://schemas.microsoft.com/office/drawing/2014/main" id="{1974E11E-B23B-1607-7ED6-E6BE949690C5}"/>
              </a:ext>
            </a:extLst>
          </p:cNvPr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99"/>
          <a:stretch>
            <a:fillRect/>
          </a:stretch>
        </p:blipFill>
        <p:spPr>
          <a:xfrm>
            <a:off x="4370611" y="1966368"/>
            <a:ext cx="536448" cy="573024"/>
          </a:xfrm>
          <a:prstGeom prst="rect">
            <a:avLst/>
          </a:prstGeom>
        </p:spPr>
      </p:pic>
      <p:pic>
        <p:nvPicPr>
          <p:cNvPr id="137" name="Image 26" descr="preencoded.png">
            <a:extLst>
              <a:ext uri="{FF2B5EF4-FFF2-40B4-BE49-F238E27FC236}">
                <a16:creationId xmlns:a16="http://schemas.microsoft.com/office/drawing/2014/main" id="{46FC5DCB-14DB-177A-79E2-1F8CB22CFB5E}"/>
              </a:ext>
            </a:extLst>
          </p:cNvPr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3935174" y="1550495"/>
            <a:ext cx="216408" cy="216408"/>
          </a:xfrm>
          <a:prstGeom prst="rect">
            <a:avLst/>
          </a:prstGeom>
        </p:spPr>
      </p:pic>
      <p:pic>
        <p:nvPicPr>
          <p:cNvPr id="138" name="Image 27" descr="preencoded.png">
            <a:extLst>
              <a:ext uri="{FF2B5EF4-FFF2-40B4-BE49-F238E27FC236}">
                <a16:creationId xmlns:a16="http://schemas.microsoft.com/office/drawing/2014/main" id="{73955ADA-E09B-1D74-52A3-882FB66A3729}"/>
              </a:ext>
            </a:extLst>
          </p:cNvPr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3627259" y="1793602"/>
            <a:ext cx="216408" cy="216408"/>
          </a:xfrm>
          <a:prstGeom prst="rect">
            <a:avLst/>
          </a:prstGeom>
        </p:spPr>
      </p:pic>
      <p:pic>
        <p:nvPicPr>
          <p:cNvPr id="139" name="Image 28" descr="preencoded.png">
            <a:extLst>
              <a:ext uri="{FF2B5EF4-FFF2-40B4-BE49-F238E27FC236}">
                <a16:creationId xmlns:a16="http://schemas.microsoft.com/office/drawing/2014/main" id="{6A5E0C3B-644D-2E75-5FDA-7CD171A117FE}"/>
              </a:ext>
            </a:extLst>
          </p:cNvPr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3190928" y="1922027"/>
            <a:ext cx="216408" cy="216408"/>
          </a:xfrm>
          <a:prstGeom prst="rect">
            <a:avLst/>
          </a:prstGeom>
        </p:spPr>
      </p:pic>
      <p:pic>
        <p:nvPicPr>
          <p:cNvPr id="140" name="Image 29" descr="preencoded.png">
            <a:extLst>
              <a:ext uri="{FF2B5EF4-FFF2-40B4-BE49-F238E27FC236}">
                <a16:creationId xmlns:a16="http://schemas.microsoft.com/office/drawing/2014/main" id="{07135178-1C83-04A5-9E96-9828A8C8110D}"/>
              </a:ext>
            </a:extLst>
          </p:cNvPr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101"/>
          <a:stretch>
            <a:fillRect/>
          </a:stretch>
        </p:blipFill>
        <p:spPr>
          <a:xfrm rot="3633517">
            <a:off x="5865214" y="1501200"/>
            <a:ext cx="505968" cy="539496"/>
          </a:xfrm>
          <a:prstGeom prst="rect">
            <a:avLst/>
          </a:prstGeom>
        </p:spPr>
      </p:pic>
      <p:pic>
        <p:nvPicPr>
          <p:cNvPr id="141" name="Image 30" descr="preencoded.png">
            <a:extLst>
              <a:ext uri="{FF2B5EF4-FFF2-40B4-BE49-F238E27FC236}">
                <a16:creationId xmlns:a16="http://schemas.microsoft.com/office/drawing/2014/main" id="{1DBD3FFC-E3E6-9D08-1541-995008D78EFF}"/>
              </a:ext>
            </a:extLst>
          </p:cNvPr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02"/>
          <a:stretch>
            <a:fillRect/>
          </a:stretch>
        </p:blipFill>
        <p:spPr>
          <a:xfrm rot="2914839">
            <a:off x="7221156" y="1719747"/>
            <a:ext cx="630936" cy="682752"/>
          </a:xfrm>
          <a:prstGeom prst="rect">
            <a:avLst/>
          </a:prstGeom>
        </p:spPr>
      </p:pic>
      <p:pic>
        <p:nvPicPr>
          <p:cNvPr id="142" name="Image 31" descr="preencoded.png">
            <a:extLst>
              <a:ext uri="{FF2B5EF4-FFF2-40B4-BE49-F238E27FC236}">
                <a16:creationId xmlns:a16="http://schemas.microsoft.com/office/drawing/2014/main" id="{DED9F919-0B11-D94B-A04C-9FB810561BB9}"/>
              </a:ext>
            </a:extLst>
          </p:cNvPr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103"/>
          <a:stretch>
            <a:fillRect/>
          </a:stretch>
        </p:blipFill>
        <p:spPr>
          <a:xfrm>
            <a:off x="2760465" y="2096961"/>
            <a:ext cx="502920" cy="371856"/>
          </a:xfrm>
          <a:prstGeom prst="rect">
            <a:avLst/>
          </a:prstGeom>
        </p:spPr>
      </p:pic>
      <p:pic>
        <p:nvPicPr>
          <p:cNvPr id="143" name="Image 32" descr="preencoded.png">
            <a:extLst>
              <a:ext uri="{FF2B5EF4-FFF2-40B4-BE49-F238E27FC236}">
                <a16:creationId xmlns:a16="http://schemas.microsoft.com/office/drawing/2014/main" id="{F5498257-FC4A-E6D9-6FF0-6DA8DA6B00BB}"/>
              </a:ext>
            </a:extLst>
          </p:cNvPr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104"/>
          <a:stretch>
            <a:fillRect/>
          </a:stretch>
        </p:blipFill>
        <p:spPr>
          <a:xfrm>
            <a:off x="3100713" y="2255230"/>
            <a:ext cx="466344" cy="301752"/>
          </a:xfrm>
          <a:prstGeom prst="rect">
            <a:avLst/>
          </a:prstGeom>
        </p:spPr>
      </p:pic>
      <p:pic>
        <p:nvPicPr>
          <p:cNvPr id="144" name="Image 33" descr="preencoded.png">
            <a:extLst>
              <a:ext uri="{FF2B5EF4-FFF2-40B4-BE49-F238E27FC236}">
                <a16:creationId xmlns:a16="http://schemas.microsoft.com/office/drawing/2014/main" id="{BB912F0B-85C1-236A-E229-551C6776EF90}"/>
              </a:ext>
            </a:extLst>
          </p:cNvPr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105"/>
          <a:stretch>
            <a:fillRect/>
          </a:stretch>
        </p:blipFill>
        <p:spPr>
          <a:xfrm>
            <a:off x="4195919" y="1643285"/>
            <a:ext cx="658368" cy="1219200"/>
          </a:xfrm>
          <a:prstGeom prst="rect">
            <a:avLst/>
          </a:prstGeom>
        </p:spPr>
      </p:pic>
      <p:sp>
        <p:nvSpPr>
          <p:cNvPr id="145" name="Text 10">
            <a:extLst>
              <a:ext uri="{FF2B5EF4-FFF2-40B4-BE49-F238E27FC236}">
                <a16:creationId xmlns:a16="http://schemas.microsoft.com/office/drawing/2014/main" id="{81118881-36C9-CF5D-C229-B9B5957EEDD1}"/>
              </a:ext>
            </a:extLst>
          </p:cNvPr>
          <p:cNvSpPr/>
          <p:nvPr/>
        </p:nvSpPr>
        <p:spPr>
          <a:xfrm>
            <a:off x="4858086" y="2474092"/>
            <a:ext cx="708872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Orai1</a:t>
            </a:r>
            <a:endParaRPr lang="en-GB" sz="1100" noProof="1"/>
          </a:p>
        </p:txBody>
      </p:sp>
      <p:sp>
        <p:nvSpPr>
          <p:cNvPr id="146" name="Text 11">
            <a:extLst>
              <a:ext uri="{FF2B5EF4-FFF2-40B4-BE49-F238E27FC236}">
                <a16:creationId xmlns:a16="http://schemas.microsoft.com/office/drawing/2014/main" id="{F3AE3F0A-0D4F-CD12-6A94-88ED1E70B6E0}"/>
              </a:ext>
            </a:extLst>
          </p:cNvPr>
          <p:cNvSpPr/>
          <p:nvPr/>
        </p:nvSpPr>
        <p:spPr>
          <a:xfrm>
            <a:off x="4158352" y="2587810"/>
            <a:ext cx="708872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P2X</a:t>
            </a:r>
            <a:r>
              <a:rPr lang="en-GB" sz="1100" baseline="-400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GB" sz="1100" noProof="1"/>
          </a:p>
        </p:txBody>
      </p:sp>
      <p:pic>
        <p:nvPicPr>
          <p:cNvPr id="147" name="Image 34" descr="preencoded.png">
            <a:extLst>
              <a:ext uri="{FF2B5EF4-FFF2-40B4-BE49-F238E27FC236}">
                <a16:creationId xmlns:a16="http://schemas.microsoft.com/office/drawing/2014/main" id="{4B7AD81C-8C68-5A78-B7C8-C350A32407D5}"/>
              </a:ext>
            </a:extLst>
          </p:cNvPr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4269095" y="3065902"/>
            <a:ext cx="216408" cy="216408"/>
          </a:xfrm>
          <a:prstGeom prst="rect">
            <a:avLst/>
          </a:prstGeom>
        </p:spPr>
      </p:pic>
      <p:pic>
        <p:nvPicPr>
          <p:cNvPr id="148" name="Image 35" descr="preencoded.png">
            <a:extLst>
              <a:ext uri="{FF2B5EF4-FFF2-40B4-BE49-F238E27FC236}">
                <a16:creationId xmlns:a16="http://schemas.microsoft.com/office/drawing/2014/main" id="{1AC9A87C-1330-E98B-9C4B-ABDD5417E860}"/>
              </a:ext>
            </a:extLst>
          </p:cNvPr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4482064" y="3149380"/>
            <a:ext cx="216408" cy="216408"/>
          </a:xfrm>
          <a:prstGeom prst="rect">
            <a:avLst/>
          </a:prstGeom>
        </p:spPr>
      </p:pic>
      <p:pic>
        <p:nvPicPr>
          <p:cNvPr id="149" name="Image 36" descr="preencoded.png">
            <a:extLst>
              <a:ext uri="{FF2B5EF4-FFF2-40B4-BE49-F238E27FC236}">
                <a16:creationId xmlns:a16="http://schemas.microsoft.com/office/drawing/2014/main" id="{52F3C84D-F43B-CD2B-87B1-2F6385CD4F29}"/>
              </a:ext>
            </a:extLst>
          </p:cNvPr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4774772" y="2685005"/>
            <a:ext cx="216408" cy="216408"/>
          </a:xfrm>
          <a:prstGeom prst="rect">
            <a:avLst/>
          </a:prstGeom>
        </p:spPr>
      </p:pic>
      <p:pic>
        <p:nvPicPr>
          <p:cNvPr id="150" name="Image 37" descr="preencoded.png">
            <a:extLst>
              <a:ext uri="{FF2B5EF4-FFF2-40B4-BE49-F238E27FC236}">
                <a16:creationId xmlns:a16="http://schemas.microsoft.com/office/drawing/2014/main" id="{1AFB7A7B-8362-97B7-593B-C1B0CF7BFCAD}"/>
              </a:ext>
            </a:extLst>
          </p:cNvPr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4438107" y="4502040"/>
            <a:ext cx="216408" cy="216408"/>
          </a:xfrm>
          <a:prstGeom prst="rect">
            <a:avLst/>
          </a:prstGeom>
        </p:spPr>
      </p:pic>
      <p:pic>
        <p:nvPicPr>
          <p:cNvPr id="151" name="Image 38" descr="preencoded.png">
            <a:extLst>
              <a:ext uri="{FF2B5EF4-FFF2-40B4-BE49-F238E27FC236}">
                <a16:creationId xmlns:a16="http://schemas.microsoft.com/office/drawing/2014/main" id="{65EF58F4-8AAB-C89B-860D-F2CD62470E4F}"/>
              </a:ext>
            </a:extLst>
          </p:cNvPr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7871542" y="5732770"/>
            <a:ext cx="216408" cy="216408"/>
          </a:xfrm>
          <a:prstGeom prst="rect">
            <a:avLst/>
          </a:prstGeom>
        </p:spPr>
      </p:pic>
      <p:pic>
        <p:nvPicPr>
          <p:cNvPr id="152" name="Image 39" descr="preencoded.png">
            <a:extLst>
              <a:ext uri="{FF2B5EF4-FFF2-40B4-BE49-F238E27FC236}">
                <a16:creationId xmlns:a16="http://schemas.microsoft.com/office/drawing/2014/main" id="{2D28CFEE-7F68-33FA-9D98-C1C574B5E57B}"/>
              </a:ext>
            </a:extLst>
          </p:cNvPr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106"/>
          <a:stretch>
            <a:fillRect/>
          </a:stretch>
        </p:blipFill>
        <p:spPr>
          <a:xfrm>
            <a:off x="3364059" y="2025873"/>
            <a:ext cx="1161288" cy="1167384"/>
          </a:xfrm>
          <a:prstGeom prst="rect">
            <a:avLst/>
          </a:prstGeom>
        </p:spPr>
      </p:pic>
      <p:pic>
        <p:nvPicPr>
          <p:cNvPr id="153" name="Image 40" descr="preencoded.png">
            <a:extLst>
              <a:ext uri="{FF2B5EF4-FFF2-40B4-BE49-F238E27FC236}">
                <a16:creationId xmlns:a16="http://schemas.microsoft.com/office/drawing/2014/main" id="{4DC11A07-FD94-7756-8050-F820A360F8DF}"/>
              </a:ext>
            </a:extLst>
          </p:cNvPr>
          <p:cNvPicPr>
            <a:picLocks noChangeAspect="1"/>
          </p:cNvPicPr>
          <p:nvPr>
            <p:custDataLst>
              <p:tags r:id="rId41"/>
            </p:custDataLst>
          </p:nvPr>
        </p:nvPicPr>
        <p:blipFill>
          <a:blip r:embed="rId107"/>
          <a:stretch>
            <a:fillRect/>
          </a:stretch>
        </p:blipFill>
        <p:spPr>
          <a:xfrm>
            <a:off x="3310542" y="1858020"/>
            <a:ext cx="1469136" cy="1402080"/>
          </a:xfrm>
          <a:prstGeom prst="rect">
            <a:avLst/>
          </a:prstGeom>
        </p:spPr>
      </p:pic>
      <p:pic>
        <p:nvPicPr>
          <p:cNvPr id="154" name="Image 41" descr="preencoded.png">
            <a:extLst>
              <a:ext uri="{FF2B5EF4-FFF2-40B4-BE49-F238E27FC236}">
                <a16:creationId xmlns:a16="http://schemas.microsoft.com/office/drawing/2014/main" id="{6951C339-994E-052C-CDD0-833A32C6BF10}"/>
              </a:ext>
            </a:extLst>
          </p:cNvPr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108"/>
          <a:stretch>
            <a:fillRect/>
          </a:stretch>
        </p:blipFill>
        <p:spPr>
          <a:xfrm>
            <a:off x="4514703" y="2420979"/>
            <a:ext cx="338328" cy="1524000"/>
          </a:xfrm>
          <a:prstGeom prst="rect">
            <a:avLst/>
          </a:prstGeom>
        </p:spPr>
      </p:pic>
      <p:sp>
        <p:nvSpPr>
          <p:cNvPr id="155" name="Text 12">
            <a:extLst>
              <a:ext uri="{FF2B5EF4-FFF2-40B4-BE49-F238E27FC236}">
                <a16:creationId xmlns:a16="http://schemas.microsoft.com/office/drawing/2014/main" id="{7DED8970-ABAA-F113-F398-6F512E54ED6B}"/>
              </a:ext>
            </a:extLst>
          </p:cNvPr>
          <p:cNvSpPr/>
          <p:nvPr/>
        </p:nvSpPr>
        <p:spPr>
          <a:xfrm>
            <a:off x="4855990" y="3941869"/>
            <a:ext cx="735338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STIM</a:t>
            </a:r>
            <a:r>
              <a:rPr lang="en-GB" sz="1100" baseline="-400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GB" sz="1100" noProof="1"/>
          </a:p>
        </p:txBody>
      </p:sp>
      <p:sp>
        <p:nvSpPr>
          <p:cNvPr id="156" name="Text 13">
            <a:extLst>
              <a:ext uri="{FF2B5EF4-FFF2-40B4-BE49-F238E27FC236}">
                <a16:creationId xmlns:a16="http://schemas.microsoft.com/office/drawing/2014/main" id="{E0296402-3463-DB55-8E7D-881882A51E71}"/>
              </a:ext>
            </a:extLst>
          </p:cNvPr>
          <p:cNvSpPr/>
          <p:nvPr/>
        </p:nvSpPr>
        <p:spPr>
          <a:xfrm>
            <a:off x="3783442" y="3687988"/>
            <a:ext cx="481425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SCS</a:t>
            </a:r>
            <a:endParaRPr lang="en-GB" sz="1100" noProof="1"/>
          </a:p>
        </p:txBody>
      </p:sp>
      <p:pic>
        <p:nvPicPr>
          <p:cNvPr id="157" name="Image 42" descr="preencoded.png">
            <a:extLst>
              <a:ext uri="{FF2B5EF4-FFF2-40B4-BE49-F238E27FC236}">
                <a16:creationId xmlns:a16="http://schemas.microsoft.com/office/drawing/2014/main" id="{DE637D5D-30D7-CEA1-5004-E92CDE45C4FC}"/>
              </a:ext>
            </a:extLst>
          </p:cNvPr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109"/>
          <a:stretch>
            <a:fillRect/>
          </a:stretch>
        </p:blipFill>
        <p:spPr>
          <a:xfrm>
            <a:off x="3153549" y="2975707"/>
            <a:ext cx="890016" cy="826008"/>
          </a:xfrm>
          <a:prstGeom prst="rect">
            <a:avLst/>
          </a:prstGeom>
        </p:spPr>
      </p:pic>
      <p:pic>
        <p:nvPicPr>
          <p:cNvPr id="158" name="Image 43" descr="preencoded.png">
            <a:extLst>
              <a:ext uri="{FF2B5EF4-FFF2-40B4-BE49-F238E27FC236}">
                <a16:creationId xmlns:a16="http://schemas.microsoft.com/office/drawing/2014/main" id="{D1D44C09-F830-49BA-6092-86D8B184117A}"/>
              </a:ext>
            </a:extLst>
          </p:cNvPr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110"/>
          <a:stretch>
            <a:fillRect/>
          </a:stretch>
        </p:blipFill>
        <p:spPr>
          <a:xfrm>
            <a:off x="4974943" y="4619770"/>
            <a:ext cx="426720" cy="390144"/>
          </a:xfrm>
          <a:prstGeom prst="rect">
            <a:avLst/>
          </a:prstGeom>
        </p:spPr>
      </p:pic>
      <p:sp>
        <p:nvSpPr>
          <p:cNvPr id="159" name="Text 14">
            <a:extLst>
              <a:ext uri="{FF2B5EF4-FFF2-40B4-BE49-F238E27FC236}">
                <a16:creationId xmlns:a16="http://schemas.microsoft.com/office/drawing/2014/main" id="{A4024E79-CFC8-1696-1DFA-81B844D83E06}"/>
              </a:ext>
            </a:extLst>
          </p:cNvPr>
          <p:cNvSpPr/>
          <p:nvPr/>
        </p:nvSpPr>
        <p:spPr>
          <a:xfrm>
            <a:off x="5276200" y="4503976"/>
            <a:ext cx="481425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IP</a:t>
            </a:r>
            <a:r>
              <a:rPr lang="en-GB" sz="1100" baseline="-400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</a:t>
            </a:r>
            <a:endParaRPr lang="en-GB" sz="1100" noProof="1"/>
          </a:p>
        </p:txBody>
      </p:sp>
      <p:pic>
        <p:nvPicPr>
          <p:cNvPr id="160" name="Image 44" descr="preencoded.png">
            <a:extLst>
              <a:ext uri="{FF2B5EF4-FFF2-40B4-BE49-F238E27FC236}">
                <a16:creationId xmlns:a16="http://schemas.microsoft.com/office/drawing/2014/main" id="{AA49CB93-CBC1-FD29-EC4E-FF5A512305DF}"/>
              </a:ext>
            </a:extLst>
          </p:cNvPr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111"/>
          <a:stretch>
            <a:fillRect/>
          </a:stretch>
        </p:blipFill>
        <p:spPr>
          <a:xfrm>
            <a:off x="4486800" y="4454027"/>
            <a:ext cx="1295400" cy="600456"/>
          </a:xfrm>
          <a:prstGeom prst="rect">
            <a:avLst/>
          </a:prstGeom>
        </p:spPr>
      </p:pic>
      <p:pic>
        <p:nvPicPr>
          <p:cNvPr id="161" name="Image 45" descr="preencoded.png">
            <a:extLst>
              <a:ext uri="{FF2B5EF4-FFF2-40B4-BE49-F238E27FC236}">
                <a16:creationId xmlns:a16="http://schemas.microsoft.com/office/drawing/2014/main" id="{0D8082A5-24CF-7F0B-9DFA-8A866C0A829C}"/>
              </a:ext>
            </a:extLst>
          </p:cNvPr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112"/>
          <a:stretch>
            <a:fillRect/>
          </a:stretch>
        </p:blipFill>
        <p:spPr>
          <a:xfrm>
            <a:off x="6544639" y="2895911"/>
            <a:ext cx="1143000" cy="1502664"/>
          </a:xfrm>
          <a:prstGeom prst="rect">
            <a:avLst/>
          </a:prstGeom>
        </p:spPr>
      </p:pic>
      <p:pic>
        <p:nvPicPr>
          <p:cNvPr id="162" name="Image 46" descr="preencoded.png">
            <a:extLst>
              <a:ext uri="{FF2B5EF4-FFF2-40B4-BE49-F238E27FC236}">
                <a16:creationId xmlns:a16="http://schemas.microsoft.com/office/drawing/2014/main" id="{CEF81107-2CA2-2AF5-7BD8-557FB0A4347B}"/>
              </a:ext>
            </a:extLst>
          </p:cNvPr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113"/>
          <a:stretch>
            <a:fillRect/>
          </a:stretch>
        </p:blipFill>
        <p:spPr>
          <a:xfrm>
            <a:off x="6945062" y="5130529"/>
            <a:ext cx="1155192" cy="1185672"/>
          </a:xfrm>
          <a:prstGeom prst="rect">
            <a:avLst/>
          </a:prstGeom>
        </p:spPr>
      </p:pic>
      <p:pic>
        <p:nvPicPr>
          <p:cNvPr id="163" name="Image 47" descr="preencoded.png">
            <a:extLst>
              <a:ext uri="{FF2B5EF4-FFF2-40B4-BE49-F238E27FC236}">
                <a16:creationId xmlns:a16="http://schemas.microsoft.com/office/drawing/2014/main" id="{8D0725EF-BE13-E558-89A9-7C6EA41741E3}"/>
              </a:ext>
            </a:extLst>
          </p:cNvPr>
          <p:cNvPicPr>
            <a:picLocks noChangeAspect="1"/>
          </p:cNvPicPr>
          <p:nvPr>
            <p:custDataLst>
              <p:tags r:id="rId48"/>
            </p:custDataLst>
          </p:nvPr>
        </p:nvPicPr>
        <p:blipFill>
          <a:blip r:embed="rId114"/>
          <a:stretch>
            <a:fillRect/>
          </a:stretch>
        </p:blipFill>
        <p:spPr>
          <a:xfrm>
            <a:off x="3917210" y="4908450"/>
            <a:ext cx="249936" cy="347472"/>
          </a:xfrm>
          <a:prstGeom prst="rect">
            <a:avLst/>
          </a:prstGeom>
        </p:spPr>
      </p:pic>
      <p:pic>
        <p:nvPicPr>
          <p:cNvPr id="164" name="Image 48" descr="preencoded.png">
            <a:extLst>
              <a:ext uri="{FF2B5EF4-FFF2-40B4-BE49-F238E27FC236}">
                <a16:creationId xmlns:a16="http://schemas.microsoft.com/office/drawing/2014/main" id="{3D335C7A-7F6F-641B-5137-998366C7A749}"/>
              </a:ext>
            </a:extLst>
          </p:cNvPr>
          <p:cNvPicPr>
            <a:picLocks noChangeAspect="1"/>
          </p:cNvPicPr>
          <p:nvPr>
            <p:custDataLst>
              <p:tags r:id="rId49"/>
            </p:custDataLst>
          </p:nvPr>
        </p:nvPicPr>
        <p:blipFill>
          <a:blip r:embed="rId81"/>
          <a:stretch>
            <a:fillRect/>
          </a:stretch>
        </p:blipFill>
        <p:spPr>
          <a:xfrm>
            <a:off x="4212837" y="5218520"/>
            <a:ext cx="216408" cy="216408"/>
          </a:xfrm>
          <a:prstGeom prst="rect">
            <a:avLst/>
          </a:prstGeom>
        </p:spPr>
      </p:pic>
      <p:sp>
        <p:nvSpPr>
          <p:cNvPr id="165" name="Text 15">
            <a:extLst>
              <a:ext uri="{FF2B5EF4-FFF2-40B4-BE49-F238E27FC236}">
                <a16:creationId xmlns:a16="http://schemas.microsoft.com/office/drawing/2014/main" id="{604C2F32-9511-BB5E-9FA4-C69360049932}"/>
              </a:ext>
            </a:extLst>
          </p:cNvPr>
          <p:cNvSpPr/>
          <p:nvPr/>
        </p:nvSpPr>
        <p:spPr>
          <a:xfrm>
            <a:off x="4275304" y="5303488"/>
            <a:ext cx="100616" cy="6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378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</a:t>
            </a:r>
            <a:r>
              <a:rPr lang="en-GB" sz="378" baseline="30000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2+</a:t>
            </a:r>
            <a:endParaRPr lang="en-GB" sz="378" noProof="1"/>
          </a:p>
        </p:txBody>
      </p:sp>
      <p:pic>
        <p:nvPicPr>
          <p:cNvPr id="166" name="Image 49" descr="preencoded.png">
            <a:extLst>
              <a:ext uri="{FF2B5EF4-FFF2-40B4-BE49-F238E27FC236}">
                <a16:creationId xmlns:a16="http://schemas.microsoft.com/office/drawing/2014/main" id="{6B687519-B5F0-1148-2F1E-80C3E2B5D8D8}"/>
              </a:ext>
            </a:extLst>
          </p:cNvPr>
          <p:cNvPicPr>
            <a:picLocks noChangeAspect="1"/>
          </p:cNvPicPr>
          <p:nvPr>
            <p:custDataLst>
              <p:tags r:id="rId50"/>
            </p:custDataLst>
          </p:nvPr>
        </p:nvPicPr>
        <p:blipFill>
          <a:blip r:embed="rId114"/>
          <a:stretch>
            <a:fillRect/>
          </a:stretch>
        </p:blipFill>
        <p:spPr>
          <a:xfrm>
            <a:off x="4113285" y="5156312"/>
            <a:ext cx="249936" cy="347472"/>
          </a:xfrm>
          <a:prstGeom prst="rect">
            <a:avLst/>
          </a:prstGeom>
        </p:spPr>
      </p:pic>
      <p:pic>
        <p:nvPicPr>
          <p:cNvPr id="167" name="Image 50" descr="preencoded.png">
            <a:extLst>
              <a:ext uri="{FF2B5EF4-FFF2-40B4-BE49-F238E27FC236}">
                <a16:creationId xmlns:a16="http://schemas.microsoft.com/office/drawing/2014/main" id="{F7627E09-E9F6-C0B9-53B6-51246E6D2E24}"/>
              </a:ext>
            </a:extLst>
          </p:cNvPr>
          <p:cNvPicPr>
            <a:picLocks noChangeAspect="1"/>
          </p:cNvPicPr>
          <p:nvPr>
            <p:custDataLst>
              <p:tags r:id="rId51"/>
            </p:custDataLst>
          </p:nvPr>
        </p:nvPicPr>
        <p:blipFill>
          <a:blip r:embed="rId114"/>
          <a:stretch>
            <a:fillRect/>
          </a:stretch>
        </p:blipFill>
        <p:spPr>
          <a:xfrm>
            <a:off x="4082787" y="4693860"/>
            <a:ext cx="249936" cy="347472"/>
          </a:xfrm>
          <a:prstGeom prst="rect">
            <a:avLst/>
          </a:prstGeom>
        </p:spPr>
      </p:pic>
      <p:sp>
        <p:nvSpPr>
          <p:cNvPr id="168" name="Text 16">
            <a:extLst>
              <a:ext uri="{FF2B5EF4-FFF2-40B4-BE49-F238E27FC236}">
                <a16:creationId xmlns:a16="http://schemas.microsoft.com/office/drawing/2014/main" id="{4826B5DE-19F5-3984-89E7-DF8A6232743A}"/>
              </a:ext>
            </a:extLst>
          </p:cNvPr>
          <p:cNvSpPr/>
          <p:nvPr/>
        </p:nvSpPr>
        <p:spPr>
          <a:xfrm>
            <a:off x="2058062" y="5341212"/>
            <a:ext cx="1358589" cy="586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1286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Binding proteins:</a:t>
            </a:r>
            <a:endParaRPr lang="en-GB" sz="1286" noProof="1"/>
          </a:p>
          <a:p>
            <a:pPr marL="0" indent="0" algn="l">
              <a:lnSpc>
                <a:spcPct val="96985"/>
              </a:lnSpc>
              <a:buNone/>
            </a:pPr>
            <a:r>
              <a:rPr lang="en-GB" sz="1286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CALR, HSP90B1, BiP, CREC</a:t>
            </a:r>
            <a:endParaRPr lang="en-GB" sz="1286" noProof="1"/>
          </a:p>
        </p:txBody>
      </p:sp>
      <p:pic>
        <p:nvPicPr>
          <p:cNvPr id="169" name="Image 51" descr="preencoded.png">
            <a:extLst>
              <a:ext uri="{FF2B5EF4-FFF2-40B4-BE49-F238E27FC236}">
                <a16:creationId xmlns:a16="http://schemas.microsoft.com/office/drawing/2014/main" id="{0D1700DB-194F-A8D7-31C5-8499B1E87FEC}"/>
              </a:ext>
            </a:extLst>
          </p:cNvPr>
          <p:cNvPicPr>
            <a:picLocks noChangeAspect="1"/>
          </p:cNvPicPr>
          <p:nvPr>
            <p:custDataLst>
              <p:tags r:id="rId52"/>
            </p:custDataLst>
          </p:nvPr>
        </p:nvPicPr>
        <p:blipFill>
          <a:blip r:embed="rId115"/>
          <a:stretch>
            <a:fillRect/>
          </a:stretch>
        </p:blipFill>
        <p:spPr>
          <a:xfrm>
            <a:off x="3222427" y="5074375"/>
            <a:ext cx="871728" cy="551688"/>
          </a:xfrm>
          <a:prstGeom prst="rect">
            <a:avLst/>
          </a:prstGeom>
        </p:spPr>
      </p:pic>
      <p:pic>
        <p:nvPicPr>
          <p:cNvPr id="170" name="Image 52" descr="preencoded.png">
            <a:extLst>
              <a:ext uri="{FF2B5EF4-FFF2-40B4-BE49-F238E27FC236}">
                <a16:creationId xmlns:a16="http://schemas.microsoft.com/office/drawing/2014/main" id="{B00ECC59-472A-F3B9-B872-D20F3F90D365}"/>
              </a:ext>
            </a:extLst>
          </p:cNvPr>
          <p:cNvPicPr>
            <a:picLocks noChangeAspect="1"/>
          </p:cNvPicPr>
          <p:nvPr>
            <p:custDataLst>
              <p:tags r:id="rId53"/>
            </p:custDataLst>
          </p:nvPr>
        </p:nvPicPr>
        <p:blipFill>
          <a:blip r:embed="rId114"/>
          <a:stretch>
            <a:fillRect/>
          </a:stretch>
        </p:blipFill>
        <p:spPr>
          <a:xfrm>
            <a:off x="5858580" y="4448226"/>
            <a:ext cx="249936" cy="347472"/>
          </a:xfrm>
          <a:prstGeom prst="rect">
            <a:avLst/>
          </a:prstGeom>
        </p:spPr>
      </p:pic>
      <p:pic>
        <p:nvPicPr>
          <p:cNvPr id="171" name="Image 53" descr="preencoded.png">
            <a:extLst>
              <a:ext uri="{FF2B5EF4-FFF2-40B4-BE49-F238E27FC236}">
                <a16:creationId xmlns:a16="http://schemas.microsoft.com/office/drawing/2014/main" id="{74E3E3D9-730A-7349-A447-5698B630B159}"/>
              </a:ext>
            </a:extLst>
          </p:cNvPr>
          <p:cNvPicPr>
            <a:picLocks noChangeAspect="1"/>
          </p:cNvPicPr>
          <p:nvPr>
            <p:custDataLst>
              <p:tags r:id="rId54"/>
            </p:custDataLst>
          </p:nvPr>
        </p:nvPicPr>
        <p:blipFill>
          <a:blip r:embed="rId114"/>
          <a:stretch>
            <a:fillRect/>
          </a:stretch>
        </p:blipFill>
        <p:spPr>
          <a:xfrm>
            <a:off x="6054656" y="4696088"/>
            <a:ext cx="249936" cy="347472"/>
          </a:xfrm>
          <a:prstGeom prst="rect">
            <a:avLst/>
          </a:prstGeom>
        </p:spPr>
      </p:pic>
      <p:pic>
        <p:nvPicPr>
          <p:cNvPr id="172" name="Image 54" descr="preencoded.png">
            <a:extLst>
              <a:ext uri="{FF2B5EF4-FFF2-40B4-BE49-F238E27FC236}">
                <a16:creationId xmlns:a16="http://schemas.microsoft.com/office/drawing/2014/main" id="{F43FB1DE-2CAD-1ED5-A80E-74BCC7CE8069}"/>
              </a:ext>
            </a:extLst>
          </p:cNvPr>
          <p:cNvPicPr>
            <a:picLocks noChangeAspect="1"/>
          </p:cNvPicPr>
          <p:nvPr>
            <p:custDataLst>
              <p:tags r:id="rId55"/>
            </p:custDataLst>
          </p:nvPr>
        </p:nvPicPr>
        <p:blipFill>
          <a:blip r:embed="rId114"/>
          <a:stretch>
            <a:fillRect/>
          </a:stretch>
        </p:blipFill>
        <p:spPr>
          <a:xfrm>
            <a:off x="6024157" y="4233637"/>
            <a:ext cx="249936" cy="347472"/>
          </a:xfrm>
          <a:prstGeom prst="rect">
            <a:avLst/>
          </a:prstGeom>
        </p:spPr>
      </p:pic>
      <p:sp>
        <p:nvSpPr>
          <p:cNvPr id="173" name="Text 17">
            <a:extLst>
              <a:ext uri="{FF2B5EF4-FFF2-40B4-BE49-F238E27FC236}">
                <a16:creationId xmlns:a16="http://schemas.microsoft.com/office/drawing/2014/main" id="{0CE6A826-5454-758A-753A-31E103CE515F}"/>
              </a:ext>
            </a:extLst>
          </p:cNvPr>
          <p:cNvSpPr/>
          <p:nvPr/>
        </p:nvSpPr>
        <p:spPr>
          <a:xfrm>
            <a:off x="4370554" y="5398738"/>
            <a:ext cx="100616" cy="6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378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</a:t>
            </a:r>
            <a:r>
              <a:rPr lang="en-GB" sz="378" baseline="30000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2+</a:t>
            </a:r>
            <a:endParaRPr lang="en-GB" sz="378" noProof="1"/>
          </a:p>
        </p:txBody>
      </p:sp>
      <p:pic>
        <p:nvPicPr>
          <p:cNvPr id="174" name="Image 55" descr="preencoded.png">
            <a:extLst>
              <a:ext uri="{FF2B5EF4-FFF2-40B4-BE49-F238E27FC236}">
                <a16:creationId xmlns:a16="http://schemas.microsoft.com/office/drawing/2014/main" id="{7DF1CCA1-02A8-955A-64F4-A0590286874D}"/>
              </a:ext>
            </a:extLst>
          </p:cNvPr>
          <p:cNvPicPr>
            <a:picLocks noChangeAspect="1"/>
          </p:cNvPicPr>
          <p:nvPr>
            <p:custDataLst>
              <p:tags r:id="rId56"/>
            </p:custDataLst>
          </p:nvPr>
        </p:nvPicPr>
        <p:blipFill>
          <a:blip r:embed="rId81"/>
          <a:stretch>
            <a:fillRect/>
          </a:stretch>
        </p:blipFill>
        <p:spPr>
          <a:xfrm>
            <a:off x="6152371" y="4757141"/>
            <a:ext cx="216408" cy="216408"/>
          </a:xfrm>
          <a:prstGeom prst="rect">
            <a:avLst/>
          </a:prstGeom>
        </p:spPr>
      </p:pic>
      <p:sp>
        <p:nvSpPr>
          <p:cNvPr id="175" name="Text 18">
            <a:extLst>
              <a:ext uri="{FF2B5EF4-FFF2-40B4-BE49-F238E27FC236}">
                <a16:creationId xmlns:a16="http://schemas.microsoft.com/office/drawing/2014/main" id="{62DC4B3D-82C1-225D-F212-54B9D4195D7B}"/>
              </a:ext>
            </a:extLst>
          </p:cNvPr>
          <p:cNvSpPr/>
          <p:nvPr/>
        </p:nvSpPr>
        <p:spPr>
          <a:xfrm>
            <a:off x="6233317" y="4838541"/>
            <a:ext cx="100616" cy="6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378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</a:t>
            </a:r>
            <a:r>
              <a:rPr lang="en-GB" sz="378" baseline="30000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2+</a:t>
            </a:r>
            <a:endParaRPr lang="en-GB" sz="378" noProof="1"/>
          </a:p>
        </p:txBody>
      </p:sp>
      <p:pic>
        <p:nvPicPr>
          <p:cNvPr id="176" name="Image 56" descr="preencoded.png">
            <a:extLst>
              <a:ext uri="{FF2B5EF4-FFF2-40B4-BE49-F238E27FC236}">
                <a16:creationId xmlns:a16="http://schemas.microsoft.com/office/drawing/2014/main" id="{7CA44DAA-E8B2-340F-54C9-A45BDB5525A9}"/>
              </a:ext>
            </a:extLst>
          </p:cNvPr>
          <p:cNvPicPr>
            <a:picLocks noChangeAspect="1"/>
          </p:cNvPicPr>
          <p:nvPr>
            <p:custDataLst>
              <p:tags r:id="rId57"/>
            </p:custDataLst>
          </p:nvPr>
        </p:nvPicPr>
        <p:blipFill>
          <a:blip r:embed="rId81"/>
          <a:stretch>
            <a:fillRect/>
          </a:stretch>
        </p:blipFill>
        <p:spPr>
          <a:xfrm>
            <a:off x="5942397" y="4510436"/>
            <a:ext cx="216408" cy="216408"/>
          </a:xfrm>
          <a:prstGeom prst="rect">
            <a:avLst/>
          </a:prstGeom>
        </p:spPr>
      </p:pic>
      <p:sp>
        <p:nvSpPr>
          <p:cNvPr id="177" name="Text 19">
            <a:extLst>
              <a:ext uri="{FF2B5EF4-FFF2-40B4-BE49-F238E27FC236}">
                <a16:creationId xmlns:a16="http://schemas.microsoft.com/office/drawing/2014/main" id="{80E77463-8070-A8C7-E354-AFC851592178}"/>
              </a:ext>
            </a:extLst>
          </p:cNvPr>
          <p:cNvSpPr/>
          <p:nvPr/>
        </p:nvSpPr>
        <p:spPr>
          <a:xfrm>
            <a:off x="6004865" y="4591836"/>
            <a:ext cx="100616" cy="6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378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</a:t>
            </a:r>
            <a:r>
              <a:rPr lang="en-GB" sz="378" baseline="30000" noProof="1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2+</a:t>
            </a:r>
            <a:endParaRPr lang="en-GB" sz="378" noProof="1"/>
          </a:p>
        </p:txBody>
      </p:sp>
      <p:pic>
        <p:nvPicPr>
          <p:cNvPr id="178" name="Image 57" descr="preencoded.png">
            <a:extLst>
              <a:ext uri="{FF2B5EF4-FFF2-40B4-BE49-F238E27FC236}">
                <a16:creationId xmlns:a16="http://schemas.microsoft.com/office/drawing/2014/main" id="{EBC95AD6-7264-67BA-26C6-57375AA1A948}"/>
              </a:ext>
            </a:extLst>
          </p:cNvPr>
          <p:cNvPicPr>
            <a:picLocks noChangeAspect="1"/>
          </p:cNvPicPr>
          <p:nvPr>
            <p:custDataLst>
              <p:tags r:id="rId58"/>
            </p:custDataLst>
          </p:nvPr>
        </p:nvPicPr>
        <p:blipFill>
          <a:blip r:embed="rId82"/>
          <a:stretch>
            <a:fillRect/>
          </a:stretch>
        </p:blipFill>
        <p:spPr>
          <a:xfrm>
            <a:off x="6474186" y="4413786"/>
            <a:ext cx="216408" cy="216408"/>
          </a:xfrm>
          <a:prstGeom prst="rect">
            <a:avLst/>
          </a:prstGeom>
        </p:spPr>
      </p:pic>
      <p:sp>
        <p:nvSpPr>
          <p:cNvPr id="179" name="Text 20">
            <a:extLst>
              <a:ext uri="{FF2B5EF4-FFF2-40B4-BE49-F238E27FC236}">
                <a16:creationId xmlns:a16="http://schemas.microsoft.com/office/drawing/2014/main" id="{185E7ADB-3E20-3A7A-E5DF-AC553E6233AC}"/>
              </a:ext>
            </a:extLst>
          </p:cNvPr>
          <p:cNvSpPr/>
          <p:nvPr/>
        </p:nvSpPr>
        <p:spPr>
          <a:xfrm>
            <a:off x="4106105" y="6271271"/>
            <a:ext cx="1358589" cy="586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1286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Binding proteins:</a:t>
            </a:r>
            <a:endParaRPr lang="en-GB" sz="1286" noProof="1"/>
          </a:p>
          <a:p>
            <a:pPr marL="0" indent="0" algn="l">
              <a:lnSpc>
                <a:spcPct val="96985"/>
              </a:lnSpc>
              <a:buNone/>
            </a:pPr>
            <a:r>
              <a:rPr lang="en-GB" sz="1286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CaM + others</a:t>
            </a:r>
            <a:endParaRPr lang="en-GB" sz="1286" noProof="1"/>
          </a:p>
        </p:txBody>
      </p:sp>
      <p:pic>
        <p:nvPicPr>
          <p:cNvPr id="180" name="Image 58" descr="preencoded.png">
            <a:extLst>
              <a:ext uri="{FF2B5EF4-FFF2-40B4-BE49-F238E27FC236}">
                <a16:creationId xmlns:a16="http://schemas.microsoft.com/office/drawing/2014/main" id="{ADEBF0F6-A771-DE03-44D6-311ECACE3B72}"/>
              </a:ext>
            </a:extLst>
          </p:cNvPr>
          <p:cNvPicPr>
            <a:picLocks noChangeAspect="1"/>
          </p:cNvPicPr>
          <p:nvPr>
            <p:custDataLst>
              <p:tags r:id="rId59"/>
            </p:custDataLst>
          </p:nvPr>
        </p:nvPicPr>
        <p:blipFill>
          <a:blip r:embed="rId116"/>
          <a:stretch>
            <a:fillRect/>
          </a:stretch>
        </p:blipFill>
        <p:spPr>
          <a:xfrm>
            <a:off x="5098237" y="4765353"/>
            <a:ext cx="957072" cy="1584960"/>
          </a:xfrm>
          <a:prstGeom prst="rect">
            <a:avLst/>
          </a:prstGeom>
        </p:spPr>
      </p:pic>
      <p:pic>
        <p:nvPicPr>
          <p:cNvPr id="181" name="Image 59" descr="preencoded.png">
            <a:extLst>
              <a:ext uri="{FF2B5EF4-FFF2-40B4-BE49-F238E27FC236}">
                <a16:creationId xmlns:a16="http://schemas.microsoft.com/office/drawing/2014/main" id="{6B95FB66-F3E9-E7F7-F60A-B4B5138D0860}"/>
              </a:ext>
            </a:extLst>
          </p:cNvPr>
          <p:cNvPicPr>
            <a:picLocks noChangeAspect="1"/>
          </p:cNvPicPr>
          <p:nvPr>
            <p:custDataLst>
              <p:tags r:id="rId60"/>
            </p:custDataLst>
          </p:nvPr>
        </p:nvPicPr>
        <p:blipFill>
          <a:blip r:embed="rId117"/>
          <a:stretch>
            <a:fillRect/>
          </a:stretch>
        </p:blipFill>
        <p:spPr>
          <a:xfrm>
            <a:off x="6362973" y="5728723"/>
            <a:ext cx="588264" cy="597408"/>
          </a:xfrm>
          <a:prstGeom prst="rect">
            <a:avLst/>
          </a:prstGeom>
        </p:spPr>
      </p:pic>
      <p:pic>
        <p:nvPicPr>
          <p:cNvPr id="182" name="Image 60" descr="preencoded.png">
            <a:extLst>
              <a:ext uri="{FF2B5EF4-FFF2-40B4-BE49-F238E27FC236}">
                <a16:creationId xmlns:a16="http://schemas.microsoft.com/office/drawing/2014/main" id="{69A6D809-D83D-FD7B-3BC3-7EB37254BB48}"/>
              </a:ext>
            </a:extLst>
          </p:cNvPr>
          <p:cNvPicPr>
            <a:picLocks noChangeAspect="1"/>
          </p:cNvPicPr>
          <p:nvPr>
            <p:custDataLst>
              <p:tags r:id="rId61"/>
            </p:custDataLst>
          </p:nvPr>
        </p:nvPicPr>
        <p:blipFill>
          <a:blip r:embed="rId118"/>
          <a:stretch>
            <a:fillRect/>
          </a:stretch>
        </p:blipFill>
        <p:spPr>
          <a:xfrm>
            <a:off x="6294669" y="5322435"/>
            <a:ext cx="783336" cy="1380744"/>
          </a:xfrm>
          <a:prstGeom prst="rect">
            <a:avLst/>
          </a:prstGeom>
        </p:spPr>
      </p:pic>
      <p:sp>
        <p:nvSpPr>
          <p:cNvPr id="183" name="Text 21">
            <a:extLst>
              <a:ext uri="{FF2B5EF4-FFF2-40B4-BE49-F238E27FC236}">
                <a16:creationId xmlns:a16="http://schemas.microsoft.com/office/drawing/2014/main" id="{061CEEB5-7340-EFDF-E48B-84D51DF1455F}"/>
              </a:ext>
            </a:extLst>
          </p:cNvPr>
          <p:cNvSpPr/>
          <p:nvPr/>
        </p:nvSpPr>
        <p:spPr>
          <a:xfrm>
            <a:off x="6640234" y="3092021"/>
            <a:ext cx="481425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GB" sz="1100" noProof="1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MCU</a:t>
            </a:r>
            <a:endParaRPr lang="en-GB" sz="1100" noProof="1"/>
          </a:p>
        </p:txBody>
      </p:sp>
      <p:pic>
        <p:nvPicPr>
          <p:cNvPr id="184" name="Image 61" descr="preencoded.png">
            <a:extLst>
              <a:ext uri="{FF2B5EF4-FFF2-40B4-BE49-F238E27FC236}">
                <a16:creationId xmlns:a16="http://schemas.microsoft.com/office/drawing/2014/main" id="{8B4729B8-D980-6C84-6BBF-A516FB214A73}"/>
              </a:ext>
            </a:extLst>
          </p:cNvPr>
          <p:cNvPicPr>
            <a:picLocks noChangeAspect="1"/>
          </p:cNvPicPr>
          <p:nvPr>
            <p:custDataLst>
              <p:tags r:id="rId62"/>
            </p:custDataLst>
          </p:nvPr>
        </p:nvPicPr>
        <p:blipFill>
          <a:blip r:embed="rId82"/>
          <a:stretch>
            <a:fillRect/>
          </a:stretch>
        </p:blipFill>
        <p:spPr>
          <a:xfrm>
            <a:off x="5592355" y="5621519"/>
            <a:ext cx="216408" cy="216408"/>
          </a:xfrm>
          <a:prstGeom prst="rect">
            <a:avLst/>
          </a:prstGeom>
        </p:spPr>
      </p:pic>
      <p:pic>
        <p:nvPicPr>
          <p:cNvPr id="185" name="Image 62" descr="preencoded.png">
            <a:extLst>
              <a:ext uri="{FF2B5EF4-FFF2-40B4-BE49-F238E27FC236}">
                <a16:creationId xmlns:a16="http://schemas.microsoft.com/office/drawing/2014/main" id="{06D3B4CC-0474-3E39-CFD3-53C53F2FA98C}"/>
              </a:ext>
            </a:extLst>
          </p:cNvPr>
          <p:cNvPicPr>
            <a:picLocks noChangeAspect="1"/>
          </p:cNvPicPr>
          <p:nvPr>
            <p:custDataLst>
              <p:tags r:id="rId63"/>
            </p:custDataLst>
          </p:nvPr>
        </p:nvPicPr>
        <p:blipFill>
          <a:blip r:embed="rId82"/>
          <a:stretch>
            <a:fillRect/>
          </a:stretch>
        </p:blipFill>
        <p:spPr>
          <a:xfrm>
            <a:off x="6664686" y="4604286"/>
            <a:ext cx="216408" cy="216408"/>
          </a:xfrm>
          <a:prstGeom prst="rect">
            <a:avLst/>
          </a:prstGeom>
        </p:spPr>
      </p:pic>
      <p:pic>
        <p:nvPicPr>
          <p:cNvPr id="186" name="Image 63" descr="preencoded.png">
            <a:extLst>
              <a:ext uri="{FF2B5EF4-FFF2-40B4-BE49-F238E27FC236}">
                <a16:creationId xmlns:a16="http://schemas.microsoft.com/office/drawing/2014/main" id="{27EB13A0-4FB2-A8BE-6706-0142206F3A81}"/>
              </a:ext>
            </a:extLst>
          </p:cNvPr>
          <p:cNvPicPr>
            <a:picLocks noChangeAspect="1"/>
          </p:cNvPicPr>
          <p:nvPr>
            <p:custDataLst>
              <p:tags r:id="rId64"/>
            </p:custDataLst>
          </p:nvPr>
        </p:nvPicPr>
        <p:blipFill>
          <a:blip r:embed="rId82"/>
          <a:stretch>
            <a:fillRect/>
          </a:stretch>
        </p:blipFill>
        <p:spPr>
          <a:xfrm>
            <a:off x="6474180" y="4166362"/>
            <a:ext cx="216408" cy="216408"/>
          </a:xfrm>
          <a:prstGeom prst="rect">
            <a:avLst/>
          </a:prstGeom>
        </p:spPr>
      </p:pic>
      <p:pic>
        <p:nvPicPr>
          <p:cNvPr id="187" name="Image 64" descr="preencoded.png">
            <a:extLst>
              <a:ext uri="{FF2B5EF4-FFF2-40B4-BE49-F238E27FC236}">
                <a16:creationId xmlns:a16="http://schemas.microsoft.com/office/drawing/2014/main" id="{1BA8FC72-A56A-EC63-079C-2534C650F565}"/>
              </a:ext>
            </a:extLst>
          </p:cNvPr>
          <p:cNvPicPr>
            <a:picLocks noChangeAspect="1"/>
          </p:cNvPicPr>
          <p:nvPr>
            <p:custDataLst>
              <p:tags r:id="rId65"/>
            </p:custDataLst>
          </p:nvPr>
        </p:nvPicPr>
        <p:blipFill>
          <a:blip r:embed="rId82"/>
          <a:stretch>
            <a:fillRect/>
          </a:stretch>
        </p:blipFill>
        <p:spPr>
          <a:xfrm>
            <a:off x="6105244" y="5333879"/>
            <a:ext cx="216408" cy="216408"/>
          </a:xfrm>
          <a:prstGeom prst="rect">
            <a:avLst/>
          </a:prstGeom>
        </p:spPr>
      </p:pic>
      <p:pic>
        <p:nvPicPr>
          <p:cNvPr id="188" name="Image 65" descr="preencoded.png">
            <a:extLst>
              <a:ext uri="{FF2B5EF4-FFF2-40B4-BE49-F238E27FC236}">
                <a16:creationId xmlns:a16="http://schemas.microsoft.com/office/drawing/2014/main" id="{EDF5752C-8FBE-6295-0426-CD619173096E}"/>
              </a:ext>
            </a:extLst>
          </p:cNvPr>
          <p:cNvPicPr>
            <a:picLocks noChangeAspect="1"/>
          </p:cNvPicPr>
          <p:nvPr>
            <p:custDataLst>
              <p:tags r:id="rId66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7966792" y="5828020"/>
            <a:ext cx="216408" cy="216408"/>
          </a:xfrm>
          <a:prstGeom prst="rect">
            <a:avLst/>
          </a:prstGeom>
        </p:spPr>
      </p:pic>
      <p:pic>
        <p:nvPicPr>
          <p:cNvPr id="189" name="Image 66" descr="preencoded.png">
            <a:extLst>
              <a:ext uri="{FF2B5EF4-FFF2-40B4-BE49-F238E27FC236}">
                <a16:creationId xmlns:a16="http://schemas.microsoft.com/office/drawing/2014/main" id="{466FC3C8-8F29-3FD5-B677-94D0E61E8BD7}"/>
              </a:ext>
            </a:extLst>
          </p:cNvPr>
          <p:cNvPicPr>
            <a:picLocks noChangeAspect="1"/>
          </p:cNvPicPr>
          <p:nvPr>
            <p:custDataLst>
              <p:tags r:id="rId67"/>
            </p:custDataLst>
          </p:nvPr>
        </p:nvPicPr>
        <p:blipFill>
          <a:blip r:embed="rId100"/>
          <a:stretch>
            <a:fillRect/>
          </a:stretch>
        </p:blipFill>
        <p:spPr>
          <a:xfrm>
            <a:off x="7127416" y="6207921"/>
            <a:ext cx="216408" cy="216408"/>
          </a:xfrm>
          <a:prstGeom prst="rect">
            <a:avLst/>
          </a:prstGeom>
        </p:spPr>
      </p:pic>
      <p:pic>
        <p:nvPicPr>
          <p:cNvPr id="190" name="Image 67" descr="preencoded.png">
            <a:extLst>
              <a:ext uri="{FF2B5EF4-FFF2-40B4-BE49-F238E27FC236}">
                <a16:creationId xmlns:a16="http://schemas.microsoft.com/office/drawing/2014/main" id="{7E1D4D42-4A7A-DA63-1EE3-B3D24047D15A}"/>
              </a:ext>
            </a:extLst>
          </p:cNvPr>
          <p:cNvPicPr>
            <a:picLocks noChangeAspect="1"/>
          </p:cNvPicPr>
          <p:nvPr>
            <p:custDataLst>
              <p:tags r:id="rId68"/>
            </p:custDataLst>
          </p:nvPr>
        </p:nvPicPr>
        <p:blipFill>
          <a:blip r:embed="rId119"/>
          <a:stretch>
            <a:fillRect/>
          </a:stretch>
        </p:blipFill>
        <p:spPr>
          <a:xfrm>
            <a:off x="4551836" y="4036311"/>
            <a:ext cx="393192" cy="515112"/>
          </a:xfrm>
          <a:prstGeom prst="rect">
            <a:avLst/>
          </a:prstGeom>
        </p:spPr>
      </p:pic>
      <p:pic>
        <p:nvPicPr>
          <p:cNvPr id="191" name="Image 68" descr="preencoded.png">
            <a:extLst>
              <a:ext uri="{FF2B5EF4-FFF2-40B4-BE49-F238E27FC236}">
                <a16:creationId xmlns:a16="http://schemas.microsoft.com/office/drawing/2014/main" id="{E3D9A78D-1941-C92E-A854-C5D28AEF6A5D}"/>
              </a:ext>
            </a:extLst>
          </p:cNvPr>
          <p:cNvPicPr>
            <a:picLocks noChangeAspect="1"/>
          </p:cNvPicPr>
          <p:nvPr>
            <p:custDataLst>
              <p:tags r:id="rId69"/>
            </p:custDataLst>
          </p:nvPr>
        </p:nvPicPr>
        <p:blipFill>
          <a:blip r:embed="rId120"/>
          <a:stretch>
            <a:fillRect/>
          </a:stretch>
        </p:blipFill>
        <p:spPr>
          <a:xfrm>
            <a:off x="7142261" y="4468373"/>
            <a:ext cx="731520" cy="771144"/>
          </a:xfrm>
          <a:prstGeom prst="rect">
            <a:avLst/>
          </a:prstGeom>
        </p:spPr>
      </p:pic>
      <p:pic>
        <p:nvPicPr>
          <p:cNvPr id="192" name="Image 69" descr="preencoded.png">
            <a:extLst>
              <a:ext uri="{FF2B5EF4-FFF2-40B4-BE49-F238E27FC236}">
                <a16:creationId xmlns:a16="http://schemas.microsoft.com/office/drawing/2014/main" id="{27372927-76EB-26F7-E984-3E04E5063A8A}"/>
              </a:ext>
            </a:extLst>
          </p:cNvPr>
          <p:cNvPicPr>
            <a:picLocks noChangeAspect="1"/>
          </p:cNvPicPr>
          <p:nvPr>
            <p:custDataLst>
              <p:tags r:id="rId70"/>
            </p:custDataLst>
          </p:nvPr>
        </p:nvPicPr>
        <p:blipFill>
          <a:blip r:embed="rId121"/>
          <a:stretch>
            <a:fillRect/>
          </a:stretch>
        </p:blipFill>
        <p:spPr>
          <a:xfrm>
            <a:off x="4602671" y="5078884"/>
            <a:ext cx="999744" cy="728472"/>
          </a:xfrm>
          <a:prstGeom prst="rect">
            <a:avLst/>
          </a:prstGeom>
        </p:spPr>
      </p:pic>
      <p:pic>
        <p:nvPicPr>
          <p:cNvPr id="193" name="Image 70" descr="preencoded.png">
            <a:extLst>
              <a:ext uri="{FF2B5EF4-FFF2-40B4-BE49-F238E27FC236}">
                <a16:creationId xmlns:a16="http://schemas.microsoft.com/office/drawing/2014/main" id="{4379D932-72EF-A70C-7356-180E1D190C54}"/>
              </a:ext>
            </a:extLst>
          </p:cNvPr>
          <p:cNvPicPr>
            <a:picLocks noChangeAspect="1"/>
          </p:cNvPicPr>
          <p:nvPr>
            <p:custDataLst>
              <p:tags r:id="rId71"/>
            </p:custDataLst>
          </p:nvPr>
        </p:nvPicPr>
        <p:blipFill>
          <a:blip r:embed="rId122"/>
          <a:stretch>
            <a:fillRect/>
          </a:stretch>
        </p:blipFill>
        <p:spPr>
          <a:xfrm>
            <a:off x="7688527" y="2821303"/>
            <a:ext cx="874776" cy="911352"/>
          </a:xfrm>
          <a:prstGeom prst="rect">
            <a:avLst/>
          </a:prstGeom>
        </p:spPr>
      </p:pic>
      <p:sp>
        <p:nvSpPr>
          <p:cNvPr id="194" name="Text 22">
            <a:extLst>
              <a:ext uri="{FF2B5EF4-FFF2-40B4-BE49-F238E27FC236}">
                <a16:creationId xmlns:a16="http://schemas.microsoft.com/office/drawing/2014/main" id="{F8F1AE5B-CBC7-5CA3-D6A1-CDC77E65D857}"/>
              </a:ext>
            </a:extLst>
          </p:cNvPr>
          <p:cNvSpPr/>
          <p:nvPr/>
        </p:nvSpPr>
        <p:spPr>
          <a:xfrm>
            <a:off x="8640194" y="4114446"/>
            <a:ext cx="1112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14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TXA</a:t>
            </a:r>
            <a:r>
              <a:rPr lang="en-GB" sz="1400" baseline="-400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r>
              <a:rPr lang="en-GB" sz="14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</a:t>
            </a:r>
            <a:r>
              <a:rPr lang="en-GB" sz="1400" baseline="-400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GB" sz="1400" noProof="1"/>
          </a:p>
          <a:p>
            <a:pPr marL="0" indent="0" algn="l">
              <a:lnSpc>
                <a:spcPct val="96985"/>
              </a:lnSpc>
              <a:buNone/>
            </a:pPr>
            <a:r>
              <a:rPr lang="en-GB" sz="8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(not yet in model) </a:t>
            </a:r>
            <a:endParaRPr lang="en-GB" sz="1400" noProof="1"/>
          </a:p>
        </p:txBody>
      </p:sp>
      <p:pic>
        <p:nvPicPr>
          <p:cNvPr id="195" name="Image 71" descr="preencoded.png">
            <a:extLst>
              <a:ext uri="{FF2B5EF4-FFF2-40B4-BE49-F238E27FC236}">
                <a16:creationId xmlns:a16="http://schemas.microsoft.com/office/drawing/2014/main" id="{F6DAB7F1-A718-5ABF-D8E6-80526720F350}"/>
              </a:ext>
            </a:extLst>
          </p:cNvPr>
          <p:cNvPicPr>
            <a:picLocks noChangeAspect="1"/>
          </p:cNvPicPr>
          <p:nvPr>
            <p:custDataLst>
              <p:tags r:id="rId72"/>
            </p:custDataLst>
          </p:nvPr>
        </p:nvPicPr>
        <p:blipFill>
          <a:blip r:embed="rId123"/>
          <a:stretch>
            <a:fillRect/>
          </a:stretch>
        </p:blipFill>
        <p:spPr>
          <a:xfrm>
            <a:off x="8057605" y="3733118"/>
            <a:ext cx="667512" cy="765048"/>
          </a:xfrm>
          <a:prstGeom prst="rect">
            <a:avLst/>
          </a:prstGeom>
        </p:spPr>
      </p:pic>
      <p:sp>
        <p:nvSpPr>
          <p:cNvPr id="196" name="Text 23">
            <a:extLst>
              <a:ext uri="{FF2B5EF4-FFF2-40B4-BE49-F238E27FC236}">
                <a16:creationId xmlns:a16="http://schemas.microsoft.com/office/drawing/2014/main" id="{20E8A2CC-20D1-B650-A80F-CF3CC3A88753}"/>
              </a:ext>
            </a:extLst>
          </p:cNvPr>
          <p:cNvSpPr/>
          <p:nvPr/>
        </p:nvSpPr>
        <p:spPr>
          <a:xfrm>
            <a:off x="8364427" y="2748357"/>
            <a:ext cx="1112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6985"/>
              </a:lnSpc>
              <a:buNone/>
            </a:pPr>
            <a:r>
              <a:rPr lang="en-GB" sz="14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P2Y</a:t>
            </a:r>
            <a:r>
              <a:rPr lang="en-GB" sz="1400" baseline="-400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 </a:t>
            </a:r>
            <a:endParaRPr lang="en-GB" sz="1400" noProof="1"/>
          </a:p>
          <a:p>
            <a:pPr marL="0" indent="0" algn="l">
              <a:lnSpc>
                <a:spcPct val="96985"/>
              </a:lnSpc>
              <a:buNone/>
            </a:pPr>
            <a:r>
              <a:rPr lang="en-GB" sz="800" noProof="1">
                <a:solidFill>
                  <a:srgbClr val="000000">
                    <a:alpha val="4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(not yet in model) </a:t>
            </a:r>
            <a:endParaRPr lang="en-GB" sz="1400" noProof="1"/>
          </a:p>
        </p:txBody>
      </p:sp>
    </p:spTree>
    <p:extLst>
      <p:ext uri="{BB962C8B-B14F-4D97-AF65-F5344CB8AC3E}">
        <p14:creationId xmlns:p14="http://schemas.microsoft.com/office/powerpoint/2010/main" val="1911711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An aside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Spotting Errors in the source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GB" noProof="1"/>
              <a:t>The Purvis 2008 k₃ story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>
          <a:xfrm>
            <a:off x="1097280" y="2368295"/>
            <a:ext cx="10225735" cy="2967379"/>
          </a:xfrm>
        </p:spPr>
        <p:txBody>
          <a:bodyPr/>
          <a:lstStyle/>
          <a:p>
            <a:r>
              <a:rPr lang="en-GB" i="0" noProof="1"/>
              <a:t>Asked AI to check values it had extracted.</a:t>
            </a:r>
          </a:p>
          <a:p>
            <a:r>
              <a:rPr lang="en-GB" i="0" noProof="1"/>
              <a:t> </a:t>
            </a:r>
          </a:p>
          <a:p>
            <a:r>
              <a:rPr lang="en-GB" i="0" noProof="1"/>
              <a:t>AI spotted that a value quoted in Purvis &amp; Diamond 2008 (well known platelet modelling paper) was wrong – units were wrong and value was 100X too large.</a:t>
            </a:r>
          </a:p>
          <a:p>
            <a:endParaRPr lang="en-GB" i="0" noProof="1"/>
          </a:p>
          <a:p>
            <a:r>
              <a:rPr lang="en-GB" i="0" noProof="1"/>
              <a:t>AI found original study via references and verified for myself, AI was correct, there was a typo.</a:t>
            </a:r>
          </a:p>
          <a:p>
            <a:endParaRPr lang="en-GB" i="0" noProof="1"/>
          </a:p>
          <a:p>
            <a:r>
              <a:rPr lang="en-GB" i="0" noProof="1"/>
              <a:t>Very strong use-case for AI – tracking values and assertions across papers. It is also very useful for helping to review data – I got the AI to print the values it found, with reference to the primary source and the code so I could easily review.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Validation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GB" noProof="1"/>
              <a:t>Criteria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GB" sz="1600" noProof="1"/>
              <a:t>Compared output to existing models,</a:t>
            </a:r>
          </a:p>
          <a:p>
            <a:r>
              <a:rPr lang="en-GB" sz="1600" noProof="1"/>
              <a:t>success criteria: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Resting cytosolic Ca²⁺ within 100 ± 10 nM band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Resting DTS Ca²⁺ in the literature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IP₃-stimulated transient peak height in band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noProof="1"/>
              <a:t>Transient duration matches shape of previous model(s)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lang="en-GB" noProof="1"/>
              <a:t>Model state at 14 May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rPr lang="en-GB" sz="1600" noProof="1"/>
              <a:t>Resting cyt Ca²⁺: 104 nM  ✓</a:t>
            </a:r>
          </a:p>
          <a:p>
            <a:r>
              <a:rPr lang="en-GB" sz="1600" noProof="1"/>
              <a:t>Resting DTS Ca²⁺: 235 µM  ✓</a:t>
            </a:r>
          </a:p>
          <a:p>
            <a:r>
              <a:rPr lang="en-GB" sz="1600" noProof="1"/>
              <a:t>Resting IP₃: 50 nM  ✓</a:t>
            </a:r>
          </a:p>
          <a:p>
            <a:r>
              <a:rPr lang="en-GB" sz="1600" noProof="1"/>
              <a:t>Resting Gαq-active: 100 of 5000  ✓</a:t>
            </a:r>
          </a:p>
          <a:p>
            <a:r>
              <a:rPr lang="en-GB" sz="1600" noProof="1"/>
              <a:t>21 / 21 unit tests pass</a:t>
            </a:r>
          </a:p>
          <a:p>
            <a:r>
              <a:rPr lang="en-GB" sz="1600" noProof="1"/>
              <a:t>Driven by physiological agonists — 1 nM thrombin, 10 µM ADP. No hand-fitted IP₃ forcing.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B5C1E5-C847-F26E-E55E-AF142AC24AE9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DA0619-8A5D-188A-6C58-E5A3DCF4ADC9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Model stimulated with ADP / Thrombin  - Cytosolic Ca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895AB8-D81C-663B-16E2-B85B5A00D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080" y="1657480"/>
            <a:ext cx="9319839" cy="492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840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61B4-371E-ADA6-B234-7582A7831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C4E8B4-55C3-4B0F-B19F-5C0FB53100A3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Results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1E6521-011D-C787-42FA-1281C16AB2CB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Model stimulated with ADP / Thrombin  - DTS Ca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73E061-E171-12FD-382B-4BE94FDD3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16" y="1783080"/>
            <a:ext cx="7772400" cy="450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245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lang="en-GB" noProof="1"/>
              <a:t>Outlook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GB" noProof="1"/>
              <a:t>Where it goes from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>
          <a:xfrm>
            <a:off x="725995" y="1481328"/>
            <a:ext cx="10820095" cy="4507992"/>
          </a:xfrm>
        </p:spPr>
        <p:txBody>
          <a:bodyPr/>
          <a:lstStyle/>
          <a:p>
            <a:r>
              <a:rPr lang="en-GB" noProof="1"/>
              <a:t>Near-term biology: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Granule release — the model currently stops at the Ca²⁺ peak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Implement P2Y₁₂, TXA</a:t>
            </a:r>
            <a:r>
              <a:rPr lang="en-GB" baseline="-25000" noProof="1"/>
              <a:t>2</a:t>
            </a:r>
            <a:r>
              <a:rPr lang="en-GB" noProof="1"/>
              <a:t>R receptors and more, depending on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Run experiments e.g. when P2Y₁₂ / Gᵢ are wired up add clopidogrel as an in-silico drug experiment.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1"/>
          </a:p>
          <a:p>
            <a:r>
              <a:rPr lang="en-GB" noProof="1"/>
              <a:t>Wider impact: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Platelet – CTC interactions. Calibrated platelet model could in principle be coupled to a tumour-cell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Methodology generalises to other single-cell calibration problems.</a:t>
            </a:r>
          </a:p>
          <a:p>
            <a:pPr marL="1028700" lvl="1">
              <a:buFont typeface="Arial" panose="020B0604020202020204" pitchFamily="34" charset="0"/>
              <a:buChar char="•"/>
            </a:pPr>
            <a:r>
              <a:rPr lang="en-GB" sz="1800" noProof="1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If we have well quanitified pathways no reason not to try and model them in a cancer cell.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Multiple cell-cell interactions – thrombus formation?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1"/>
          </a:p>
          <a:p>
            <a:r>
              <a:rPr lang="en-GB" noProof="1"/>
              <a:t>Blue sky goal: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1"/>
              <a:t>I’d like to get to a point where a biologist with limited coding experience could build a model with AI help. </a:t>
            </a:r>
            <a:r>
              <a:rPr lang="en-GB" i="1" noProof="1"/>
              <a:t>Very long shot – a system where a user drops primary data and text instructions into an app and the model builds itself.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1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324af544-5759-4188-821f-decf3e7bcc7a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324af544-5759-4188-821f-decf3e7bcc7a&quot;:{&quot;relativeTransform&quot;:{&quot;translate&quot;:{&quot;x&quot;:-32.38177279069993,&quot;y&quot;:25.007139516762635},&quot;rotate&quot;:0,&quot;skewX&quot;:0,&quot;scale&quot;:{&quot;x&quot;:1,&quot;y&quot;:1}},&quot;type&quot;:&quot;FIGURE_OBJECT&quot;,&quot;id&quot;:&quot;324af544-5759-4188-821f-decf3e7bcc7a&quot;,&quot;name&quot;:&quot;05. Membrane brush (pill shape)&quot;,&quot;opacity&quot;:1,&quot;source&quot;:{&quot;id&quot;:&quot;5e77e5a47cbd1c00a8d78c93&quot;,&quot;type&quot;:&quot;ASSETS&quot;},&quot;path&quot;:{&quot;type&quot;:&quot;POLY_LINE&quot;,&quot;points&quot;:[{&quot;x&quot;:219.7993351328536,&quot;y&quot;:-183.048685252821},{&quot;x&quot;:328.01194288121906,&quot;y&quot;:-6.11071305361651},{&quot;x&quot;:224.11227491927187,&quot;y&quot;:175.12308898945633},{&quot;x&quot;:20.77571307079431,&quot;y&quot;:224.4333761336255},{&quot;x&quot;:-187.17163932291356,&quot;y&quot;:179.32170992856757},{&quot;x&quot;:-288.3604647337862,&quot;y&quot;:-7.4539506485067015},{&quot;x&quot;:-187.17163932291356,&quot;y&quot;:-179.32170992856757},{&quot;x&quot;:19.57661748596381,&quot;y&quot;:-227.77238914386203}],&quot;closed&quot;:true,&quot;cornerRounding&quot;:{&quot;type&quot;:&quot;ARC_LENGTH&quot;,&quot;global&quot;:197.27525925757973}},&quot;pathStyles&quot;:[{&quot;type&quot;:&quot;FILL&quot;,&quot;fillStyle&quot;:&quot;rgba(255,252,244,1)&quot;},{&quot;type&quot;:&quot;STROKE&quot;,&quot;strokeStyle&quot;:&quot;rgba(0,0,0,0)&quot;,&quot;lineWidth&quot;:10,&quot;lineJoin&quot;:&quot;round&quot;}],&quot;pathPattern&quot;:{&quot;type&quot;:&quot;ROW&quot;,&quot;patternId&quot;:&quot;26e28855-e7a5-476e-855d-595079b574e3&quot;,&quot;patternTransform&quot;:{&quot;translate&quot;:{&quot;x&quot;:-0.00213178294573646,&quot;y&quot;:-0.5},&quot;rotate&quot;:0,&quot;skewX&quot;:0,&quot;scale&quot;:{&quot;x&quot;:0.007751937984496124,&quot;y&quot;:0.007751937984496124}},&quot;xUnits&quot;:&quot;STROKE_WIDTH&quot;,&quot;yUnits&quot;:&quot;STROKE_WIDTH&quot;,&quot;bending&quot;:true,&quot;repeat&quot;:{&quot;distance&quot;:0.7709302325581394,&quot;align&quot;:&quot;STRETCH&quot;},&quot;isPremium&quot;:false},&quot;isLocked&quot;:false,&quot;parent&quot;:{&quot;type&quot;:&quot;CHILD&quot;,&quot;parentId&quot;:&quot;b5f6e286-6b83-438e-aeb6-6ed23306d230&quot;,&quot;order&quot;:&quot;1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327c9daf-d353-4586-9b0d-c864e8410eb0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327c9daf-d353-4586-9b0d-c864e8410eb0&quot;:{&quot;id&quot;:&quot;327c9daf-d353-4586-9b0d-c864e8410eb0&quot;,&quot;name&quot;:&quot;GPCR&quot;,&quot;type&quot;:&quot;FIGURE_OBJECT&quot;,&quot;relativeTransform&quot;:{&quot;translate&quot;:{&quot;x&quot;:149.4894268269544,&quot;y&quot;:-157.64811372563145},&quot;rotate&quot;:0.4886921905584123,&quot;skewX&quot;:2.375899574475173e-16,&quot;scale&quot;:{&quot;x&quot;:0.5920000000000001,&quot;y&quot;:0.5920000000000001}},&quot;image&quot;:{&quot;url&quot;:&quot;https://icons.biorender.com/biorender/5f4fedf878482a0026a94caf/gpcr.png&quot;,&quot;fallbackUrl&quot;:&quot;https://res.cloudinary.com/dlcjuc3ej/image/upload/v1599073776/hsxysoyyqlbnzbt3vku1.svg#/keystone/api/icons/5f4fedf878482a0026a94caf/gpcr.svg&quot;,&quot;isPremium&quot;:false,&quot;isPacked&quot;:true,&quot;size&quot;:{&quot;x&quot;:125,&quot;y&quot;:105.26315789473684}},&quot;source&quot;:{&quot;id&quot;:&quot;5f4e9aa331c20900280122d7&quot;,&quot;type&quot;:&quot;ASSETS&quot;},&quot;parent&quot;:{&quot;type&quot;:&quot;CHILD&quot;,&quot;parentId&quot;:&quot;b5f6e286-6b83-438e-aeb6-6ed23306d230&quot;,&quot;order&quot;:&quot;12&quot;},&quot;opacity&quot;:1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fb885b2-5494-48c6-84c7-4206be47aec9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fb885b2-5494-48c6-84c7-4206be47aec9&quot;:{&quot;id&quot;:&quot;bfb885b2-5494-48c6-84c7-4206be47aec9&quot;,&quot;name&quot;:&quot;GPCR&quot;,&quot;type&quot;:&quot;FIGURE_OBJECT&quot;,&quot;relativeTransform&quot;:{&quot;translate&quot;:{&quot;x&quot;:6.028404250588768,&quot;y&quot;:-188.0051480421165},&quot;rotate&quot;:-1.1773115692811734e-16,&quot;skewX&quot;:1.6482361969936427e-16,&quot;scale&quot;:{&quot;x&quot;:0.5893846696965598,&quot;y&quot;:0.5893846696965592}},&quot;image&quot;:{&quot;url&quot;:&quot;https://icons.biorender.com/biorender/5f4fedf878482a0026a94c98/gpcr.png&quot;,&quot;fallbackUrl&quot;:&quot;https://res.cloudinary.com/dlcjuc3ej/image/upload/v1599073776/gahfirzuzdyx6dhtuzmh.svg#/keystone/api/icons/5f4fedf878482a0026a94c98/gpcr.svg&quot;,&quot;isPremium&quot;:false,&quot;isPacked&quot;:true,&quot;size&quot;:{&quot;x&quot;:125,&quot;y&quot;:105.26315789473684}},&quot;source&quot;:{&quot;id&quot;:&quot;5f4e9aa331c20900280122d7&quot;,&quot;type&quot;:&quot;ASSETS&quot;},&quot;parent&quot;:{&quot;type&quot;:&quot;CHILD&quot;,&quot;parentId&quot;:&quot;b5f6e286-6b83-438e-aeb6-6ed23306d230&quot;,&quot;order&quot;:&quot;13&quot;},&quot;opacity&quot;:1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bbd8576-dab7-40c3-8baf-f9654c998a9a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bbd8576-dab7-40c3-8baf-f9654c998a9a&quot;:{&quot;type&quot;:&quot;FIGURE_OBJECT&quot;,&quot;id&quot;:&quot;bbbd8576-dab7-40c3-8baf-f9654c998a9a&quot;,&quot;path&quot;:{&quot;type&quot;:&quot;RECT&quot;,&quot;size&quot;:{&quot;x&quot;:19.853709508881874,&quot;y&quot;:24.04902604539296},&quot;cornerRounding&quot;:{&quot;type&quot;:&quot;ARC_LENGTH&quot;,&quot;global&quot;:0}},&quot;pathStyles&quot;:[{&quot;type&quot;:&quot;FILL&quot;,&quot;fillStyle&quot;:&quot;rgba(255,252,244,1)&quot;},{&quot;type&quot;:&quot;STROKE&quot;,&quot;strokeStyle&quot;:&quot;rgba(149, 122, 42, 1)&quot;,&quot;lineWidth&quot;:0,&quot;lineJoin&quot;:&quot;round&quot;}],&quot;parent&quot;:{&quot;type&quot;:&quot;CHILD&quot;,&quot;parentId&quot;:&quot;b5f6e286-6b83-438e-aeb6-6ed23306d230&quot;,&quot;order&quot;:&quot;3&quot;},&quot;relativeTransform&quot;:{&quot;translate&quot;:{&quot;x&quot;:-286.1633563426832,&quot;y&quot;:-12.1036131924566},&quot;rotate&quot;:0.1902630131865296,&quot;skewX&quot;:0,&quot;scale&quot;:{&quot;x&quot;:1,&quot;y&quot;:1}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ef8b2b1b-be03-49df-b391-e6a5811ecb3f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ef8b2b1b-be03-49df-b391-e6a5811ecb3f&quot;:{&quot;id&quot;:&quot;ef8b2b1b-be03-49df-b391-e6a5811ecb3f&quot;,&quot;name&quot;:&quot;Vesicle (large, stage 4)&quot;,&quot;displayName&quot;:&quot;&quot;,&quot;type&quot;:&quot;FIGURE_OBJECT&quot;,&quot;relativeTransform&quot;:{&quot;translate&quot;:{&quot;x&quot;:-259.1476477751205,&quot;y&quot;:-7.559272148874179},&quot;rotate&quot;:-1.3935044794013907,&quot;skewX&quot;:2.357937095627985e-17,&quot;scale&quot;:{&quot;x&quot;:0.5424741101742322,&quot;y&quot;:0.6002478272643413}},&quot;image&quot;:{&quot;url&quot;:&quot;https://icons.cdn.biorender.com/biorender/5b4ccd581757070014aad187/20180716190022/image/5b4ccd581757070014aad187.png&quot;,&quot;isPremium&quot;:false,&quot;isOrgIcon&quot;:false,&quot;size&quot;:{&quot;x&quot;:100,&quot;y&quot;:126.85185185185185},&quot;fallbackUrl&quot;:&quot;sources/icons/5b4ccd581757070014aad187/20180716190022/image/5b4ccd581757070014aad187.svg&quot;},&quot;source&quot;:{&quot;id&quot;:&quot;5b4ccd581757070014aad187&quot;,&quot;version&quot;:&quot;20180716190022&quot;,&quot;type&quot;:&quot;ASSETS&quot;},&quot;isPremium&quot;:false,&quot;parent&quot;:{&quot;type&quot;:&quot;CHILD&quot;,&quot;parentId&quot;:&quot;b5f6e286-6b83-438e-aeb6-6ed23306d230&quot;,&quot;order&quot;:&quot;5&quot;},&quot;styles&quot;:{&quot;editable&quot;:[{&quot;styleName&quot;:&quot;SATURATE&quot;,&quot;index&quot;:0,&quot;value&quot;:100}]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f4c3384e-6104-4b8f-b38d-3fea27809780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f4c3384e-6104-4b8f-b38d-3fea27809780&quot;:{&quot;type&quot;:&quot;FIGURE_OBJECT&quot;,&quot;id&quot;:&quot;f4c3384e-6104-4b8f-b38d-3fea27809780&quot;,&quot;path&quot;:{&quot;type&quot;:&quot;RECT&quot;,&quot;size&quot;:{&quot;x&quot;:19.853709508881874,&quot;y&quot;:24.04902604539296},&quot;cornerRounding&quot;:{&quot;type&quot;:&quot;ARC_LENGTH&quot;,&quot;global&quot;:0}},&quot;pathStyles&quot;:[{&quot;type&quot;:&quot;FILL&quot;,&quot;fillStyle&quot;:&quot;rgba(255,252,244,1)&quot;},{&quot;type&quot;:&quot;STROKE&quot;,&quot;strokeStyle&quot;:&quot;rgba(149, 122, 42, 1)&quot;,&quot;lineWidth&quot;:0,&quot;lineJoin&quot;:&quot;round&quot;}],&quot;parent&quot;:{&quot;type&quot;:&quot;CHILD&quot;,&quot;parentId&quot;:&quot;b5f6e286-6b83-438e-aeb6-6ed23306d230&quot;,&quot;order&quot;:&quot;5&quot;},&quot;relativeTransform&quot;:{&quot;translate&quot;:{&quot;x&quot;:-260.65868584459884,&quot;y&quot;:-74.90054805835696},&quot;rotate&quot;:0.581784907955971,&quot;skewX&quot;:5.551115123125788e-17,&quot;scale&quot;:{&quot;x&quot;:0.9999999999999996,&quot;y&quot;:1.0000000000000002}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ee667375-936b-494c-8cb6-a642db0680fc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ee667375-936b-494c-8cb6-a642db0680fc&quot;:{&quot;id&quot;:&quot;ee667375-936b-494c-8cb6-a642db0680fc&quot;,&quot;name&quot;:&quot;Sphere&quot;,&quot;type&quot;:&quot;FIGURE_OBJECT&quot;,&quot;relativeTransform&quot;:{&quot;translate&quot;:{&quot;x&quot;:-181.23876526210344,&quot;y&quot;:117.54549747412467},&quot;rotate&quot;:0,&quot;skewX&quot;:0,&quot;scale&quot;:{&quot;x&quot;:0.26965212187328164,&quot;y&quot;:0.26965212187328164}},&quot;image&quot;:{&quot;url&quot;:&quot;https://icons.cdn.biorender.com/biorender/5b8847989629ce1400901caa/20240913182354/image/5b8847989629ce1400901caa.png&quot;,&quot;fallbackUrl&quot;:&quot;sources/icons/5b8847989629ce1400901caa/20240913182354/image/5b8847989629ce1400901caa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5f6e286-6b83-438e-aeb6-6ed23306d230&quot;,&quot;order&quot;:&quot;66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03b8c39e-c2d2-4f88-8d22-dce396492e1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03b8c39e-c2d2-4f88-8d22-dce396492e13&quot;:{&quot;type&quot;:&quot;FIGURE_OBJECT&quot;,&quot;id&quot;:&quot;03b8c39e-c2d2-4f88-8d22-dce396492e13&quot;,&quot;parent&quot;:{&quot;type&quot;:&quot;CHILD&quot;,&quot;parentId&quot;:&quot;b5f6e286-6b83-438e-aeb6-6ed23306d230&quot;,&quot;order&quot;:&quot;7&quot;},&quot;relativeTransform&quot;:{&quot;translate&quot;:{&quot;x&quot;:-198.12451971767905,&quot;y&quot;:-26.19170128920777},&quot;rotate&quot;:0,&quot;skewX&quot;:0,&quot;scale&quot;:{&quot;x&quot;:1,&quot;y&quot;:1}},&quot;isLocked&quot;:false},&quot;66193c4f-5490-4c14-8cbf-55b30f804cd8&quot;:{&quot;id&quot;:&quot;66193c4f-5490-4c14-8cbf-55b30f804cd8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03b8c39e-c2d2-4f88-8d22-dce396492e13&quot;,&quot;order&quot;:&quot;2&quot;}},&quot;eaa067fb-3d86-470e-9a53-e59753b8416b&quot;:{&quot;id&quot;:&quot;eaa067fb-3d86-470e-9a53-e59753b8416b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03b8c39e-c2d2-4f88-8d22-dce396492e13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56784a98-748a-4d34-82b2-581bb3aacaf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6784a98-748a-4d34-82b2-581bb3aacaf7&quot;:{&quot;type&quot;:&quot;FIGURE_OBJECT&quot;,&quot;id&quot;:&quot;56784a98-748a-4d34-82b2-581bb3aacaf7&quot;,&quot;relativeTransform&quot;:{&quot;translate&quot;:{&quot;x&quot;:16.914822797578246,&quot;y&quot;:-116.8211353147002},&quot;rotate&quot;:0,&quot;skewX&quot;:0,&quot;scale&quot;:{&quot;x&quot;:1,&quot;y&quot;:1}},&quot;layout&quot;:{&quot;sizeRatio&quot;:{&quot;x&quot;:0.8041237113402058,&quot;y&quot;:0.75},&quot;keepAspectRatio&quot;:false},&quot;opacity&quot;:1,&quot;path&quot;:{&quot;type&quot;:&quot;RECT&quot;,&quot;size&quot;:{&quot;x&quot;:28.655019481077524,&quot;y&quot;:15.121337133860374},&quot;cornerRounding&quot;:{&quot;type&quot;:&quot;ARC_LENGTH&quot;,&quot;global&quot;:14.561229079875854}},&quot;pathStyles&quot;:[{&quot;type&quot;:&quot;FILL&quot;,&quot;fillStyle&quot;:&quot;rgba(207, 213, 232, 1)&quot;},{&quot;type&quot;:&quot;STROKE&quot;,&quot;strokeStyle&quot;:&quot;rgba(50, 64, 104, 1)&quot;,&quot;lineWidth&quot;:0.6876026202060064,&quot;lineJoin&quot;:&quot;round&quot;}],&quot;isLocked&quot;:false,&quot;parent&quot;:{&quot;type&quot;:&quot;CHILD&quot;,&quot;parentId&quot;:&quot;b5f6e286-6b83-438e-aeb6-6ed23306d230&quot;,&quot;order&quot;:&quot;91&quot;}},&quot;46bc3f7f-710f-403f-9532-62a8273f033c&quot;:{&quot;type&quot;:&quot;FIGURE_OBJECT&quot;,&quot;id&quot;:&quot;46bc3f7f-710f-403f-9532-62a8273f033c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,&quot;range&quot;:[0,2]}],&quot;text&quot;:&quot;Gαq&quot;,&quot;base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}],&quot;verticalAlign&quot;:&quot;TOP&quot;},&quot;size&quot;:{&quot;x&quot;:23.042180613649954,&quot;y&quot;:7.646419326347581},&quot;targetSize&quot;:{&quot;x&quot;:23.042180613649954,&quot;y&quot;:2},&quot;format&quot;:&quot;BETTER_TEXT&quot;},&quot;parent&quot;:{&quot;type&quot;:&quot;CHILD&quot;,&quot;parentId&quot;:&quot;56784a98-748a-4d34-82b2-581bb3aacaf7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5cc2ea58-ed8f-416d-8599-8a974c595bb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cc2ea58-ed8f-416d-8599-8a974c595bb7&quot;:{&quot;type&quot;:&quot;FIGURE_OBJECT&quot;,&quot;id&quot;:&quot;5cc2ea58-ed8f-416d-8599-8a974c595bb7&quot;,&quot;relativeTransform&quot;:{&quot;translate&quot;:{&quot;x&quot;:12.267105044169679,&quot;y&quot;:-67.79209729664467},&quot;rotate&quot;:0,&quot;skewX&quot;:0,&quot;scale&quot;:{&quot;x&quot;:1,&quot;y&quot;:1}},&quot;layout&quot;:{&quot;sizeRatio&quot;:{&quot;x&quot;:0.8041237113402058,&quot;y&quot;:0.75},&quot;keepAspectRatio&quot;:false},&quot;opacity&quot;:1,&quot;path&quot;:{&quot;type&quot;:&quot;RECT&quot;,&quot;size&quot;:{&quot;x&quot;:33.48330484179999,&quot;y&quot;:15.121337133860374},&quot;cornerRounding&quot;:{&quot;type&quot;:&quot;ARC_LENGTH&quot;,&quot;global&quot;:14.561229079875854}},&quot;pathStyles&quot;:[{&quot;type&quot;:&quot;FILL&quot;,&quot;fillStyle&quot;:&quot;rgba(246, 215, 237, 1)&quot;},{&quot;type&quot;:&quot;STROKE&quot;,&quot;strokeStyle&quot;:&quot;rgba(158, 68, 114, 1)&quot;,&quot;lineWidth&quot;:0.6876026202060064,&quot;lineJoin&quot;:&quot;round&quot;}],&quot;isLocked&quot;:false,&quot;parent&quot;:{&quot;type&quot;:&quot;CHILD&quot;,&quot;parentId&quot;:&quot;b5f6e286-6b83-438e-aeb6-6ed23306d230&quot;,&quot;order&quot;:&quot;915&quot;}},&quot;4b2003a9-de07-42e6-bdd9-1e414c863dd1&quot;:{&quot;type&quot;:&quot;FIGURE_OBJECT&quot;,&quot;id&quot;:&quot;4b2003a9-de07-42e6-bdd9-1e414c863dd1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,&quot;range&quot;:[0,2]},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sub&quot;},&quot;range&quot;:[3,3]}],&quot;text&quot;:&quot;PIP2&quot;,&quot;base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sub&quot;}}],&quot;verticalAlign&quot;:&quot;TOP&quot;,&quot;_lastCaretLocation&quot;:{&quot;lineIndex&quot;:0,&quot;runIndex&quot;:1,&quot;charIndex&quot;:3}},&quot;size&quot;:{&quot;x&quot;:26.924719357323692,&quot;y&quot;:8},&quot;targetSize&quot;:{&quot;x&quot;:26.924719357323692,&quot;y&quot;:2},&quot;format&quot;:&quot;BETTER_TEXT&quot;},&quot;parent&quot;:{&quot;type&quot;:&quot;CHILD&quot;,&quot;parentId&quot;:&quot;5cc2ea58-ed8f-416d-8599-8a974c595bb7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9e2504e6-8170-4598-857a-5816bf02da6b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9e2504e6-8170-4598-857a-5816bf02da6b&quot;:{&quot;type&quot;:&quot;FIGURE_OBJECT&quot;,&quot;id&quot;:&quot;9e2504e6-8170-4598-857a-5816bf02da6b&quot;,&quot;relativeTransform&quot;:{&quot;translate&quot;:{&quot;x&quot;:11.561997046903855,&quot;y&quot;:-33.46486388333099},&quot;rotate&quot;:0,&quot;skewX&quot;:0,&quot;scale&quot;:{&quot;x&quot;:1,&quot;y&quot;:1}},&quot;layout&quot;:{&quot;sizeRatio&quot;:{&quot;x&quot;:0.8041237113402058,&quot;y&quot;:0.75},&quot;keepAspectRatio&quot;:false},&quot;opacity&quot;:1,&quot;path&quot;:{&quot;type&quot;:&quot;RECT&quot;,&quot;size&quot;:{&quot;x&quot;:33.48330484179999,&quot;y&quot;:15.121337133860374},&quot;cornerRounding&quot;:{&quot;type&quot;:&quot;ARC_LENGTH&quot;,&quot;global&quot;:14.561229079875854}},&quot;pathStyles&quot;:[{&quot;type&quot;:&quot;FILL&quot;,&quot;fillStyle&quot;:&quot;rgba(217, 232, 229, 1)&quot;},{&quot;type&quot;:&quot;STROKE&quot;,&quot;strokeStyle&quot;:&quot;rgba(70, 85, 83, 1)&quot;,&quot;lineWidth&quot;:0.6876026202060064,&quot;lineJoin&quot;:&quot;round&quot;}],&quot;isLocked&quot;:false,&quot;parent&quot;:{&quot;type&quot;:&quot;CHILD&quot;,&quot;parentId&quot;:&quot;b5f6e286-6b83-438e-aeb6-6ed23306d230&quot;,&quot;order&quot;:&quot;92&quot;}},&quot;3c878814-27c2-4a0a-8e1b-aa7d367c3c00&quot;:{&quot;type&quot;:&quot;FIGURE_OBJECT&quot;,&quot;id&quot;:&quot;3c878814-27c2-4a0a-8e1b-aa7d367c3c00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,&quot;range&quot;:[0,2]}],&quot;text&quot;:&quot;DAG&quot;,&quot;base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}],&quot;verticalAlign&quot;:&quot;TOP&quot;},&quot;size&quot;:{&quot;x&quot;:26.924719357323692,&quot;y&quot;:7.646419326347581},&quot;targetSize&quot;:{&quot;x&quot;:26.924719357323692,&quot;y&quot;:2},&quot;format&quot;:&quot;BETTER_TEXT&quot;},&quot;parent&quot;:{&quot;type&quot;:&quot;CHILD&quot;,&quot;parentId&quot;:&quot;9e2504e6-8170-4598-857a-5816bf02da6b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5c5b57fc-07f0-43f5-ba49-5773e5d5d17b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c5b57fc-07f0-43f5-ba49-5773e5d5d17b&quot;:{&quot;type&quot;:&quot;FIGURE_OBJECT&quot;,&quot;id&quot;:&quot;5c5b57fc-07f0-43f5-ba49-5773e5d5d17b&quot;,&quot;relativeTransform&quot;:{&quot;translate&quot;:{&quot;x&quot;:11.561997046903855,&quot;y&quot;:1.2912241917255614},&quot;rotate&quot;:0,&quot;skewX&quot;:0,&quot;scale&quot;:{&quot;x&quot;:1,&quot;y&quot;:1}},&quot;layout&quot;:{&quot;sizeRatio&quot;:{&quot;x&quot;:0.8041237113402058,&quot;y&quot;:0.75},&quot;keepAspectRatio&quot;:false},&quot;opacity&quot;:0.25,&quot;path&quot;:{&quot;type&quot;:&quot;RECT&quot;,&quot;size&quot;:{&quot;x&quot;:33.48330484179999,&quot;y&quot;:15.121337133860374},&quot;cornerRounding&quot;:{&quot;type&quot;:&quot;ARC_LENGTH&quot;,&quot;global&quot;:14.561229079875854}},&quot;pathStyles&quot;:[{&quot;type&quot;:&quot;FILL&quot;,&quot;fillStyle&quot;:&quot;rgba(229, 226, 248, 1)&quot;},{&quot;type&quot;:&quot;STROKE&quot;,&quot;strokeStyle&quot;:&quot;rgba(68, 43, 132, 1)&quot;,&quot;lineWidth&quot;:0.6876026202060064,&quot;lineJoin&quot;:&quot;round&quot;}],&quot;isLocked&quot;:false,&quot;parent&quot;:{&quot;type&quot;:&quot;CHILD&quot;,&quot;parentId&quot;:&quot;b5f6e286-6b83-438e-aeb6-6ed23306d230&quot;,&quot;order&quot;:&quot;925&quot;}},&quot;4765f40f-98a8-42c2-8f40-9480bf00b115&quot;:{&quot;type&quot;:&quot;FIGURE_OBJECT&quot;,&quot;id&quot;:&quot;4765f40f-98a8-42c2-8f40-9480bf00b115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,&quot;range&quot;:[0,2]}],&quot;text&quot;:&quot;PKC&quot;,&quot;base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}],&quot;verticalAlign&quot;:&quot;TOP&quot;},&quot;size&quot;:{&quot;x&quot;:26.924719357323692,&quot;y&quot;:7.646419326347581},&quot;targetSize&quot;:{&quot;x&quot;:26.924719357323692,&quot;y&quot;:2},&quot;format&quot;:&quot;BETTER_TEXT&quot;},&quot;parent&quot;:{&quot;type&quot;:&quot;CHILD&quot;,&quot;parentId&quot;:&quot;5c5b57fc-07f0-43f5-ba49-5773e5d5d17b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1c99ec62-3e0c-434e-a0c7-96fcd0a4a4f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1c99ec62-3e0c-434e-a0c7-96fcd0a4a4f6&quot;:{&quot;type&quot;:&quot;FIGURE_OBJECT&quot;,&quot;id&quot;:&quot;1c99ec62-3e0c-434e-a0c7-96fcd0a4a4f6&quot;,&quot;relativeTransform&quot;:{&quot;translate&quot;:{&quot;x&quot;:10.97199555567336,&quot;y&quot;:-102.42994508834835},&quot;rotate&quot;:0,&quot;skewX&quot;:0,&quot;scale&quot;:{&quot;x&quot;:1,&quot;y&quot;:1}},&quot;layout&quot;:{&quot;sizeRatio&quot;:{&quot;x&quot;:0.8041237113402058,&quot;y&quot;:0.75},&quot;keepAspectRatio&quot;:false},&quot;opacity&quot;:1,&quot;path&quot;:{&quot;type&quot;:&quot;RECT&quot;,&quot;size&quot;:{&quot;x&quot;:29.145229141627336,&quot;y&quot;:15.121337133860374},&quot;cornerRounding&quot;:{&quot;type&quot;:&quot;ARC_LENGTH&quot;,&quot;global&quot;:14.561229079875854}},&quot;pathStyles&quot;:[{&quot;type&quot;:&quot;FILL&quot;,&quot;fillStyle&quot;:&quot;rgba(216, 240, 246, 1)&quot;},{&quot;type&quot;:&quot;STROKE&quot;,&quot;strokeStyle&quot;:&quot;rgba(48, 110, 128, 1)&quot;,&quot;lineWidth&quot;:0.6876026202060064,&quot;lineJoin&quot;:&quot;round&quot;}],&quot;isLocked&quot;:false,&quot;parent&quot;:{&quot;type&quot;:&quot;CHILD&quot;,&quot;parentId&quot;:&quot;b5f6e286-6b83-438e-aeb6-6ed23306d230&quot;,&quot;order&quot;:&quot;93&quot;}},&quot;b21a27c4-75f6-4694-96ca-e9fe6cc2912d&quot;:{&quot;type&quot;:&quot;FIGURE_OBJECT&quot;,&quot;id&quot;:&quot;b21a27c4-75f6-4694-96ca-e9fe6cc2912d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,&quot;range&quot;:[0,2]}],&quot;text&quot;:&quot;PLC&quot;,&quot;base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}],&quot;verticalAlign&quot;:&quot;TOP&quot;},&quot;size&quot;:{&quot;x&quot;:23.43636982522609,&quot;y&quot;:7.646419326347581},&quot;targetSize&quot;:{&quot;x&quot;:23.43636982522609,&quot;y&quot;:2},&quot;format&quot;:&quot;BETTER_TEXT&quot;},&quot;parent&quot;:{&quot;type&quot;:&quot;CHILD&quot;,&quot;parentId&quot;:&quot;1c99ec62-3e0c-434e-a0c7-96fcd0a4a4f6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fd8c120e-662c-4446-b58f-0641ffb155f1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fd8c120e-662c-4446-b58f-0641ffb155f1&quot;:{&quot;type&quot;:&quot;FIGURE_OBJECT&quot;,&quot;id&quot;:&quot;fd8c120e-662c-4446-b58f-0641ffb155f1&quot;,&quot;relativeTransform&quot;:{&quot;translate&quot;:{&quot;x&quot;:-27.94603129848762,&quot;y&quot;:-29.668477337656356},&quot;rotate&quot;:0,&quot;skewX&quot;:0,&quot;scale&quot;:{&quot;x&quot;:1,&quot;y&quot;:1}},&quot;layout&quot;:{&quot;sizeRatio&quot;:{&quot;x&quot;:0.8041237113402058,&quot;y&quot;:0.75},&quot;keepAspectRatio&quot;:false},&quot;opacity&quot;:1,&quot;path&quot;:{&quot;type&quot;:&quot;RECT&quot;,&quot;size&quot;:{&quot;x&quot;:23.180382476440624,&quot;y&quot;:15.121337133860374},&quot;cornerRounding&quot;:{&quot;type&quot;:&quot;ARC_LENGTH&quot;,&quot;global&quot;:11.87627041304753}},&quot;pathStyles&quot;:[{&quot;type&quot;:&quot;FILL&quot;,&quot;fillStyle&quot;:&quot;rgba(252, 229, 234, 1)&quot;},{&quot;type&quot;:&quot;STROKE&quot;,&quot;strokeStyle&quot;:&quot;rgba(138, 42, 68, 1)&quot;,&quot;lineWidth&quot;:0.6876026202060064,&quot;lineJoin&quot;:&quot;round&quot;}],&quot;isLocked&quot;:false,&quot;parent&quot;:{&quot;type&quot;:&quot;CHILD&quot;,&quot;parentId&quot;:&quot;b5f6e286-6b83-438e-aeb6-6ed23306d230&quot;,&quot;order&quot;:&quot;95&quot;}},&quot;e11b5a79-1185-483c-ae03-442078a09462&quot;:{&quot;type&quot;:&quot;FIGURE_OBJECT&quot;,&quot;id&quot;:&quot;e11b5a79-1185-483c-ae03-442078a09462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,&quot;range&quot;:[0,1]},{&quot;style&quot;:{&quot;fontFamily&quot;:&quot;Roboto&quot;,&quot;fontSize&quot;:6.535497814003144,&quot;color&quot;:&quot;rgb(0,0,0)&quot;,&quot;fontWeight&quot;:&quot;normal&quot;,&quot;fontStyle&quot;:&quot;normal&quot;,&quot;decoration&quot;:&quot;none&quot;,&quot;script&quot;:&quot;sub&quot;},&quot;range&quot;:[2,2]}],&quot;text&quot;:&quot;IP3&quot;,&quot;baseStyle&quot;:{&quot;fontFamily&quot;:&quot;Roboto&quot;,&quot;fontSize&quot;:6.5354978140031434,&quot;color&quot;:&quot;rgb(0,0,0)&quot;,&quot;fontWeight&quot;:&quot;normal&quot;,&quot;fontStyle&quot;:&quot;normal&quot;,&quot;decoration&quot;:&quot;none&quot;,&quot;script&quot;:&quot;none&quot;}}],&quot;verticalAlign&quot;:&quot;TOP&quot;},&quot;size&quot;:{&quot;x&quot;:18.639895187240903,&quot;y&quot;:7.646419326347581},&quot;targetSize&quot;:{&quot;x&quot;:18.639895187240903,&quot;y&quot;:2},&quot;format&quot;:&quot;BETTER_TEXT&quot;},&quot;parent&quot;:{&quot;type&quot;:&quot;CHILD&quot;,&quot;parentId&quot;:&quot;fd8c120e-662c-4446-b58f-0641ffb155f1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6920b814-4913-4ad7-b131-7000a4d46092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6920b814-4913-4ad7-b131-7000a4d46092&quot;:{&quot;type&quot;:&quot;FIGURE_OBJECT&quot;,&quot;id&quot;:&quot;6920b814-4913-4ad7-b131-7000a4d46092&quot;,&quot;relativeTransform&quot;:{&quot;translate&quot;:{&quot;x&quot;:13.281302185030448,&quot;y&quot;:-143.9252456467662},&quot;rotate&quot;:0,&quot;skewX&quot;:0,&quot;scale&quot;:{&quot;x&quot;:1,&quot;y&quot;:1}},&quot;opacity&quot;:1,&quot;path&quot;:{&quot;type&quot;:&quot;POLY_LINE&quot;,&quot;points&quot;:[{&quot;x&quot;:0,&quot;y&quot;:-18.179280452351612},{&quot;x&quot;:0,&quot;y&quot;:18.17928045235168}],&quot;closed&quot;:false},&quot;pathStyles&quot;:[{&quot;type&quot;:&quot;FILL&quot;,&quot;fillStyle&quot;:&quot;transparent&quot;},{&quot;type&quot;:&quot;STROKE&quot;,&quot;strokeStyle&quot;:&quot;#232323&quot;,&quot;lineWidth&quot;:1.013877271043968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6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3ec01de9-c3aa-4f84-aba7-d5562008a2f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3ec01de9-c3aa-4f84-aba7-d5562008a2f7&quot;:{&quot;type&quot;:&quot;FIGURE_OBJECT&quot;,&quot;id&quot;:&quot;3ec01de9-c3aa-4f84-aba7-d5562008a2f7&quot;,&quot;relativeTransform&quot;:{&quot;translate&quot;:{&quot;x&quot;:12.267009816969527,&quot;y&quot;:-85.3118317229415},&quot;rotate&quot;:0,&quot;skewX&quot;:0,&quot;scale&quot;:{&quot;x&quot;:1,&quot;y&quot;:1}},&quot;opacity&quot;:1,&quot;path&quot;:{&quot;type&quot;:&quot;POLY_LINE&quot;,&quot;points&quot;:[{&quot;x&quot;:0,&quot;y&quot;:-9.108370960042777},{&quot;x&quot;:0,&quot;y&quot;:9.108370960042777}],&quot;closed&quot;:false},&quot;pathStyles&quot;:[{&quot;type&quot;:&quot;FILL&quot;,&quot;fillStyle&quot;:&quot;transparent&quot;},{&quot;type&quot;:&quot;STROKE&quot;,&quot;strokeStyle&quot;:&quot;#232323&quot;,&quot;lineWidth&quot;:1.013877271043968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6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605ba489-6c00-4ea7-8e42-f54c6a8a978f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605ba489-6c00-4ea7-8e42-f54c6a8a978f&quot;:{&quot;type&quot;:&quot;FIGURE_OBJECT&quot;,&quot;id&quot;:&quot;605ba489-6c00-4ea7-8e42-f54c6a8a978f&quot;,&quot;relativeTransform&quot;:{&quot;translate&quot;:{&quot;x&quot;:12.267248186397595,&quot;y&quot;:-50.864435045473336},&quot;rotate&quot;:0,&quot;skewX&quot;:0,&quot;scale&quot;:{&quot;x&quot;:1,&quot;y&quot;:1}},&quot;opacity&quot;:1,&quot;path&quot;:{&quot;type&quot;:&quot;POLY_LINE&quot;,&quot;points&quot;:[{&quot;x&quot;:0,&quot;y&quot;:-9.108370960042777},{&quot;x&quot;:0,&quot;y&quot;:9.108370960042777}],&quot;closed&quot;:false},&quot;pathStyles&quot;:[{&quot;type&quot;:&quot;FILL&quot;,&quot;fillStyle&quot;:&quot;transparent&quot;},{&quot;type&quot;:&quot;STROKE&quot;,&quot;strokeStyle&quot;:&quot;#232323&quot;,&quot;lineWidth&quot;:1.013877271043968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7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8223b60-969c-4e30-b742-dc9b9f1d038e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8223b60-969c-4e30-b742-dc9b9f1d038e&quot;:{&quot;type&quot;:&quot;FIGURE_OBJECT&quot;,&quot;id&quot;:&quot;b8223b60-969c-4e30-b742-dc9b9f1d038e&quot;,&quot;relativeTransform&quot;:{&quot;translate&quot;:{&quot;x&quot;:12.267248186397595,&quot;y&quot;:-16.139880446259177},&quot;rotate&quot;:0,&quot;skewX&quot;:0,&quot;scale&quot;:{&quot;x&quot;:1,&quot;y&quot;:1}},&quot;opacity&quot;:0.25,&quot;path&quot;:{&quot;type&quot;:&quot;POLY_LINE&quot;,&quot;points&quot;:[{&quot;x&quot;:0,&quot;y&quot;:-9.108370960042823},{&quot;x&quot;:0,&quot;y&quot;:9.108370960042727}],&quot;closed&quot;:false},&quot;pathStyles&quot;:[{&quot;type&quot;:&quot;FILL&quot;,&quot;fillStyle&quot;:&quot;transparent&quot;},{&quot;type&quot;:&quot;STROKE&quot;,&quot;strokeStyle&quot;:&quot;#232323&quot;,&quot;lineWidth&quot;:1.013877271043968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8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680361e3-cc74-4195-9628-5d7862db306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680361e3-cc74-4195-9628-5d7862db3063&quot;:{&quot;type&quot;:&quot;FIGURE_OBJECT&quot;,&quot;id&quot;:&quot;680361e3-cc74-4195-9628-5d7862db3063&quot;,&quot;relativeTransform&quot;:{&quot;translate&quot;:{&quot;x&quot;:117.74218991372177,&quot;y&quot;:-139.28597241187782},&quot;rotate&quot;:0.6911631274626141,&quot;skewX&quot;:0,&quot;scale&quot;:{&quot;x&quot;:1,&quot;y&quot;:1}},&quot;opacity&quot;:1,&quot;path&quot;:{&quot;type&quot;:&quot;POLY_LINE&quot;,&quot;points&quot;:[{&quot;x&quot;:26.508959513819164,&quot;y&quot;:-4.305587806522629},{&quot;x&quot;:-50.65074482533556,&quot;y&quot;:70.04735374030386}],&quot;closed&quot;:false},&quot;pathStyles&quot;:[{&quot;type&quot;:&quot;FILL&quot;,&quot;fillStyle&quot;:&quot;transparent&quot;},{&quot;type&quot;:&quot;STROKE&quot;,&quot;strokeStyle&quot;:&quot;#232323&quot;,&quot;lineWidth&quot;:1.0883725308143504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93eda4b-6605-4885-8a93-ee7ce8f22be1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93eda4b-6605-4885-8a93-ee7ce8f22be1&quot;:{&quot;type&quot;:&quot;FIGURE_OBJECT&quot;,&quot;id&quot;:&quot;b93eda4b-6605-4885-8a93-ee7ce8f22be1&quot;,&quot;relativeTransform&quot;:{&quot;translate&quot;:{&quot;x&quot;:0,&quot;y&quot;:-46.40718562874255},&quot;rotate&quot;:0,&quot;skewX&quot;:0,&quot;scale&quot;:{&quot;x&quot;:1,&quot;y&quot;:1}},&quot;opacity&quot;:1,&quot;path&quot;:{&quot;type&quot;:&quot;POLY_LINE&quot;,&quot;points&quot;:[{&quot;x&quot;:-31.253720293702912,&quot;y&quot;:24.847568539068018},{&quot;x&quot;:-48.24103099965157,&quot;y&quot;:100.420770929714}],&quot;closed&quot;:false},&quot;pathStyles&quot;:[{&quot;type&quot;:&quot;FILL&quot;,&quot;fillStyle&quot;:&quot;transparent&quot;},{&quot;type&quot;:&quot;STROKE&quot;,&quot;strokeStyle&quot;:&quot;#232323&quot;,&quot;lineWidth&quot;:0.749157387286900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7&quot;},&quot;connectorInfo&quot;:{&quot;type&quot;:&quot;LINE&quot;,&quot;offset&quot;:{&quot;x&quot;:0,&quot;y&quot;:0},&quot;bending&quot;:0.1,&quot;customized&quot;:true,&quot;connectedObjectAtLineEnd&quot;:{&quot;objectId&quot;:&quot;e435ec98-19d7-4a06-95b8-e8cc1901d103&quot;,&quot;coordinates&quot;:{&quot;x&quot;:0.2447011222109181,&quot;y&quot;:0}}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aca1a7c-9136-4c3e-8f78-f8949870d39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aca1a7c-9136-4c3e-8f78-f8949870d393&quot;:{&quot;type&quot;:&quot;FIGURE_OBJECT&quot;,&quot;id&quot;:&quot;baca1a7c-9136-4c3e-8f78-f8949870d393&quot;,&quot;relativeTransform&quot;:{&quot;translate&quot;:{&quot;x&quot;:8.202323991797675,&quot;y&quot;:-70.71680405076062},&quot;rotate&quot;:0,&quot;skewX&quot;:0,&quot;scale&quot;:{&quot;x&quot;:1,&quot;y&quot;:1}},&quot;opacity&quot;:1,&quot;path&quot;:{&quot;type&quot;:&quot;POLY_LINE&quot;,&quot;points&quot;:[{&quot;x&quot;:-12.676871037027317,&quot;y&quot;:6.342341750698319},{&quot;x&quot;:-23.82075242297954,&quot;y&quot;:14.368302349643571},{&quot;x&quot;:-32.73072029370293,&quot;y&quot;:32.12060414754113}],&quot;closed&quot;:false},&quot;pathStyles&quot;:[{&quot;type&quot;:&quot;FILL&quot;,&quot;fillStyle&quot;:&quot;transparent&quot;},{&quot;type&quot;:&quot;STROKE&quot;,&quot;strokeStyle&quot;:&quot;#232323&quot;,&quot;lineWidth&quot;:0.7133605445985783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8&quot;},&quot;connectorInfo&quot;:{&quot;type&quot;:&quot;QUADRATIC&quot;,&quot;offset&quot;:{&quot;x&quot;:0,&quot;y&quot;:0},&quot;bending&quot;:0.1,&quot;customized&quot;:true},&quot;pathSmoothing&quot;:{&quot;type&quot;:&quot;CATMULL_SMOOTHING&quot;,&quot;smoothing&quot;:0.2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5edf3260-fd91-4596-8800-f993e775cac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edf3260-fd91-4596-8800-f993e775cac6&quot;:{&quot;relativeTransform&quot;:{&quot;translate&quot;:{&quot;x&quot;:175.47404890946825,&quot;y&quot;:190.74684836748406},&quot;rotate&quot;:2.3582779570577577,&quot;skewX&quot;:0,&quot;scale&quot;:{&quot;x&quot;:0.9999999999999998,&quot;y&quot;:1.0000000000000007}},&quot;type&quot;:&quot;FIGURE_OBJECT&quot;,&quot;id&quot;:&quot;5edf3260-fd91-4596-8800-f993e775cac6&quot;,&quot;name&quot;:&quot;Na/Ca exchanger (open, with 1 Ca2+)&quot;,&quot;displayName&quot;:&quot;Na/Ca exchanger (open, with 1 Ca2+)&quot;,&quot;opacity&quot;:1,&quot;source&quot;:{&quot;id&quot;:&quot;5f8e02a545eb6000a2214f22&quot;,&quot;type&quot;:&quot;ASSETS&quot;},&quot;pathStyles&quot;:[{&quot;type&quot;:&quot;FILL&quot;,&quot;fillStyle&quot;:&quot;rgb(0,0,0)&quot;}],&quot;isLocked&quot;:false,&quot;parent&quot;:{&quot;type&quot;:&quot;CHILD&quot;,&quot;parentId&quot;:&quot;b5f6e286-6b83-438e-aeb6-6ed23306d230&quot;,&quot;order&quot;:&quot;9995&quot;},&quot;isPremium&quot;:true},&quot;f6660d2f-af5f-4f6a-a0df-ed7bdbb0f32b&quot;:{&quot;type&quot;:&quot;FIGURE_OBJECT&quot;,&quot;id&quot;:&quot;f6660d2f-af5f-4f6a-a0df-ed7bdbb0f32b&quot;,&quot;name&quot;:&quot;Na/Ca exchanger (open)&quot;,&quot;relativeTransform&quot;:{&quot;translate&quot;:{&quot;x&quot;:0,&quot;y&quot;:2.6441377657484894e-14},&quot;rotate&quot;:3.141592653589793,&quot;skewX&quot;:0,&quot;scale&quot;:{&quot;x&quot;:0.40595924510935744,&quot;y&quot;:0.40595924510935755}},&quot;opacity&quot;:1,&quot;image&quot;:{&quot;url&quot;:&quot;https://icons.biorender.com/biorender/5ee784d86ccd7c002897922d/20200615142609/image/na-ca-exchanger-open.png&quot;,&quot;fallbackUrl&quot;:&quot;https://res.cloudinary.com/dlcjuc3ej/image/upload/v1592231169/gfmccnssbn3jnhzaocj1.svg#/keystone/api/icons/5ee784d86ccd7c002897922d/20200615142609/image/na-ca-exchanger-open.svg&quot;,&quot;size&quot;:{&quot;x&quot;:110,&quot;y&quot;:147},&quot;isPremium&quot;:false},&quot;source&quot;:{&quot;id&quot;:&quot;5ee784d86ccd7c002897922d&quot;,&quot;type&quot;:&quot;ASSETS&quot;},&quot;pathStyles&quot;:[{&quot;type&quot;:&quot;FILL&quot;,&quot;fillStyle&quot;:&quot;rgb(0,0,0)&quot;}],&quot;isLocked&quot;:false,&quot;parent&quot;:{&quot;type&quot;:&quot;CHILD&quot;,&quot;parentId&quot;:&quot;5edf3260-fd91-4596-8800-f993e775cac6&quot;,&quot;order&quot;:&quot;2&quot;}},&quot;9752c9c8-fae1-4864-a1f5-1bad6327b1d9&quot;:{&quot;type&quot;:&quot;FIGURE_OBJECT&quot;,&quot;id&quot;:&quot;9752c9c8-fae1-4864-a1f5-1bad6327b1d9&quot;,&quot;name&quot;:&quot;Sphere&quot;,&quot;relativeTransform&quot;:{&quot;translate&quot;:{&quot;x&quot;:-6.916769674538582,&quot;y&quot;:1.9466738436820257},&quot;rotate&quot;:-2.443460952792061e-16,&quot;skewX&quot;:0,&quot;scale&quot;:{&quot;x&quot;:0.08183845669780224,&quot;y&quot;:0.08183845669780224}},&quot;opacity&quot;:1,&quot;image&quot;:{&quot;url&quot;:&quot;https://icons.biorender.com/biorender/5f4529c2929bce0028c9f87d/sphere.png&quot;,&quot;fallbackUrl&quot;:&quot;https://res.cloudinary.com/dlcjuc3ej/image/upload/v1598368171/wk05ni4n5ykgsnwpfrba.svg#/keystone/api/icons/5f4529c2929bce0028c9f87d/sphere.svg&quot;,&quot;size&quot;:{&quot;x&quot;:150,&quot;y&quot;:150},&quot;isPremium&quot;:fals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5edf3260-fd91-4596-8800-f993e775cac6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3fb7c07c-5b45-4f1e-84c4-d0f7308ff66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3fb7c07c-5b45-4f1e-84c4-d0f7308ff666&quot;:{&quot;relativeTransform&quot;:{&quot;translate&quot;:{&quot;x&quot;:-147.81755330302002,&quot;y&quot;:107.92931247841982},&quot;rotate&quot;:0,&quot;skewX&quot;:0,&quot;scale&quot;:{&quot;x&quot;:1,&quot;y&quot;:1}},&quot;type&quot;:&quot;FIGURE_OBJECT&quot;,&quot;id&quot;:&quot;3fb7c07c-5b45-4f1e-84c4-d0f7308ff666&quot;,&quot;name&quot;:&quot;Smooth endoplasmic reticulum brush (large circle)&quot;,&quot;opacity&quot;:1,&quot;source&quot;:{&quot;id&quot;:&quot;63d2a88f64cc55c5d9b18657&quot;,&quot;type&quot;:&quot;ASSETS&quot;},&quot;path&quot;:{&quot;type&quot;:&quot;ARC&quot;,&quot;size&quot;:{&quot;x&quot;:162.7062440275276,&quot;y&quot;:157.59263060224592},&quot;startAngle&quot;:3.141592653589793,&quot;sweepAngle&quot;:6.283185307179586},&quot;pathStyles&quot;:[{&quot;type&quot;:&quot;FILL&quot;,&quot;fillStyle&quot;:&quot;rgba(0,0,0,0)&quot;},{&quot;type&quot;:&quot;STROKE&quot;,&quot;strokeStyle&quot;:&quot;rgba(0,0,0,0)&quot;,&quot;lineWidth&quot;:19.304612328165597,&quot;lineJoin&quot;:&quot;round&quot;}],&quot;pathPattern&quot;:{&quot;type&quot;:&quot;ROW&quot;,&quot;patternId&quot;:&quot;10e303ef-6367-404e-b4a8-b82f65170b4b&quot;,&quot;patternTransform&quot;:{&quot;translate&quot;:{&quot;x&quot;:-0.16585403075879102,&quot;y&quot;:0.5},&quot;rotate&quot;:3.141592653589793,&quot;skewX&quot;:0,&quot;scale&quot;:{&quot;x&quot;:-0.017276528118020072,&quot;y&quot;:0.017276528118020072}},&quot;xUnits&quot;:&quot;STROKE_WIDTH&quot;,&quot;yUnits&quot;:&quot;STROKE_WIDTH&quot;,&quot;bending&quot;:true,&quot;repeat&quot;:{&quot;distance&quot;:3.4072525868162575,&quot;align&quot;:&quot;STRETCH&quot;},&quot;isPremium&quot;:false},&quot;isLocked&quot;:false,&quot;parent&quot;:{&quot;type&quot;:&quot;CHILD&quot;,&quot;parentId&quot;:&quot;b5f6e286-6b83-438e-aeb6-6ed23306d230&quot;,&quot;order&quot;:&quot;99998&quot;},&quot;displayName&quot;:&quot;Smooth endoplasmic reticulum brush (large circle)&quot;,&quot;isPremium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d304ac91-e266-4f14-89b6-4cdae5a2ec7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d304ac91-e266-4f14-89b6-4cdae5a2ec76&quot;:{&quot;id&quot;:&quot;d304ac91-e266-4f14-89b6-4cdae5a2ec76&quot;,&quot;name&quot;:&quot;SERCA pump (open 2)&quot;,&quot;type&quot;:&quot;FIGURE_OBJECT&quot;,&quot;relativeTransform&quot;:{&quot;translate&quot;:{&quot;x&quot;:-74.45037208166262,&quot;y&quot;:153.6399894226367},&quot;rotate&quot;:2.2081787310378687,&quot;skewX&quot;:-7.439650491649517e-16,&quot;scale&quot;:{&quot;x&quot;:0.4731234540911716,&quot;y&quot;:0.47312345409117174}},&quot;image&quot;:{&quot;url&quot;:&quot;https://icons.biorender.com/biorender/6116b951c17a7900285babc1/20210813182830/image/serca-pump-open-2.png&quot;,&quot;fallbackUrl&quot;:&quot;https://res.cloudinary.com/dlcjuc3ej/image/upload/v1628879310/oy5jdue4jkodrgyhpmfu.svg#/keystone/api/icons/6116b951c17a7900285babc1/20210813182830/image/serca-pump-open-2.svg&quot;,&quot;isPremium&quot;:false,&quot;isPacked&quot;:true,&quot;size&quot;:{&quot;x&quot;:74,&quot;y&quot;:112.90721649484536}},&quot;source&quot;:{&quot;id&quot;:&quot;6116b951c17a7900285babc1&quot;,&quot;type&quot;:&quot;ASSETS&quot;},&quot;parent&quot;:{&quot;type&quot;:&quot;CHILD&quot;,&quot;parentId&quot;:&quot;b5f6e286-6b83-438e-aeb6-6ed23306d230&quot;,&quot;order&quot;:&quot;99999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9aa27d4c-67bd-4134-a5ef-75f4d9844c8c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43a8402c-7b8b-410a-a0fb-36fa8ea78e73&quot;:{&quot;id&quot;:&quot;43a8402c-7b8b-410a-a0fb-36fa8ea78e73&quot;,&quot;type&quot;:&quot;FIGURE_OBJECT&quot;,&quot;relativeTransform&quot;:{&quot;translate&quot;:{&quot;x&quot;:-139.27803804897195,&quot;y&quot;:141.74056856120131},&quot;rotate&quot;:0,&quot;skewX&quot;:0,&quot;scale&quot;:{&quot;x&quot;:1,&quot;y&quot;:1}},&quot;text&quot;:{&quot;textData&quot;:{&quot;lineSpacing&quot;:&quot;half&quot;,&quot;alignment&quot;:&quot;left&quot;,&quot;lines&quot;:[{&quot;runs&quot;:[{&quot;style&quot;:{&quot;fontFamily&quot;:&quot;Roboto&quot;,&quot;fontSize&quot;:14.666666666666666,&quot;color&quot;:&quot;black&quot;,&quot;fontWeight&quot;:&quot;normal&quot;,&quot;fontStyle&quot;:&quot;normal&quot;,&quot;decoration&quot;:&quot;none&quot;,&quot;script&quot;:&quot;none&quot;},&quot;range&quot;:[0,2]}],&quot;text&quot;:&quot;DTS&quot;}],&quot;verticalAlign&quot;:&quot;TOP&quot;,&quot;_lastCaretLocation&quot;:{&quot;lineIndex&quot;:0,&quot;runIndex&quot;:-1,&quot;charIndex&quot;:-1,&quot;endOfLine&quot;:true}},&quot;format&quot;:&quot;BETTER_TEXT&quot;,&quot;size&quot;:{&quot;x&quot;:49.58333352070128,&quot;y&quot;:18},&quot;targetSize&quot;:{&quot;x&quot;:49.58333352070128,&quot;y&quot;:18},&quot;verticalAlign&quot;:&quot;TOP&quot;},&quot;parent&quot;:{&quot;type&quot;:&quot;CHILD&quot;,&quot;parentId&quot;:&quot;9aa27d4c-67bd-4134-a5ef-75f4d9844c8c&quot;,&quot;order&quot;:&quot;5&quot;},&quot;opacity&quot;:1},&quot;9aa27d4c-67bd-4134-a5ef-75f4d9844c8c&quot;:{&quot;type&quot;:&quot;FIGURE_OBJECT&quot;,&quot;id&quot;:&quot;9aa27d4c-67bd-4134-a5ef-75f4d9844c8c&quot;,&quot;parent&quot;:{&quot;type&quot;:&quot;CHILD&quot;,&quot;parentId&quot;:&quot;b5f6e286-6b83-438e-aeb6-6ed23306d230&quot;,&quot;order&quot;:&quot;999995&quot;},&quot;relativeTransform&quot;:{&quot;translate&quot;:{&quot;x&quot;:-29.258098223615434,&quot;y&quot;:-84.373051180815},&quot;rotate&quot;:0,&quot;skewX&quot;:0,&quot;scale&quot;:{&quot;x&quot;:1,&quot;y&quot;:1}},&quot;isLocked&quot;:false},&quot;08de4ad5-a8a2-408f-82a8-9a491961194b&quot;:{&quot;type&quot;:&quot;FIGURE_OBJECT&quot;,&quot;id&quot;:&quot;08de4ad5-a8a2-408f-82a8-9a491961194b&quot;,&quot;parent&quot;:{&quot;type&quot;:&quot;CROP&quot;,&quot;parentId&quot;:&quot;9aa27d4c-67bd-4134-a5ef-75f4d9844c8c&quot;,&quot;order&quot;:&quot;5&quot;},&quot;relativeTransform&quot;:{&quot;translate&quot;:{&quot;x&quot;:-139.27803804897195,&quot;y&quot;:141.74056856120131},&quot;rotate&quot;:0,&quot;skewX&quot;:0,&quot;scale&quot;:{&quot;x&quot;:24.791666760350637,&quot;y&quot;:9}},&quot;path&quot;:{&quot;type&quot;:&quot;RECT&quot;,&quot;size&quot;:{&quot;x&quot;:2,&quot;y&quot;:2}},&quot;pathStyles&quot;:[{&quot;type&quot;:&quot;FILL&quot;,&quot;fillStyle&quot;:&quot;#fff&quot;}],&quot;isFrozen&quot;:tru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cb677fce-f06d-4be6-b33e-24313097cec2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cb677fce-f06d-4be6-b33e-24313097cec2&quot;:{&quot;type&quot;:&quot;FIGURE_OBJECT&quot;,&quot;id&quot;:&quot;cb677fce-f06d-4be6-b33e-24313097cec2&quot;,&quot;name&quot;:&quot;Ion channel (generic, open)&quot;,&quot;relativeTransform&quot;:{&quot;translate&quot;:{&quot;x&quot;:-127.28913051066627,&quot;y&quot;:-179.14549438354157},&quot;rotate&quot;:-0.374585833794962,&quot;skewX&quot;:0,&quot;scale&quot;:{&quot;x&quot;:0.3928635205495864,&quot;y&quot;:0.39286352054958645}},&quot;opacity&quot;:1,&quot;image&quot;:{&quot;url&quot;:&quot;https://icons.biorender.com/biorender/5e28a2b91def080027889a7a/ion-channel-generic-open.png&quot;,&quot;fallbackUrl&quot;:&quot;https://res.cloudinary.com/dlcjuc3ej/image/upload/v1579721393/xmokwnuqobqsuqkpalke.svg#/keystone/api/icons/5e28a2b91def080027889a7a/ion-channel-generic-open.svg&quot;,&quot;size&quot;:{&quot;x&quot;:106,&quot;y&quot;:123},&quot;isPremium&quot;:false},&quot;source&quot;:{&quot;id&quot;:&quot;5c0ab2c83fbb901200f2abd0&quot;,&quot;type&quot;:&quot;ASSETS&quot;},&quot;pathStyles&quot;:[{&quot;type&quot;:&quot;FILL&quot;,&quot;fillStyle&quot;:&quot;rgb(0,0,0)&quot;}],&quot;isLocked&quot;:false,&quot;parent&quot;:{&quot;type&quot;:&quot;CHILD&quot;,&quot;parentId&quot;:&quot;b5f6e286-6b83-438e-aeb6-6ed23306d230&quot;,&quot;order&quot;:&quot;99999973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ec8b9468-7df5-4149-be4b-884f1fe96b0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ec8b9468-7df5-4149-be4b-884f1fe96b05&quot;:{&quot;type&quot;:&quot;FIGURE_OBJECT&quot;,&quot;id&quot;:&quot;ec8b9468-7df5-4149-be4b-884f1fe96b05&quot;,&quot;parent&quot;:{&quot;type&quot;:&quot;CHILD&quot;,&quot;parentId&quot;:&quot;b5f6e286-6b83-438e-aeb6-6ed23306d230&quot;,&quot;order&quot;:&quot;9999999&quot;},&quot;relativeTransform&quot;:{&quot;translate&quot;:{&quot;x&quot;:-273.0954137709941,&quot;y&quot;:-410.2681831757423},&quot;rotate&quot;:0,&quot;skewX&quot;:0,&quot;scale&quot;:{&quot;x&quot;:1,&quot;y&quot;:1}},&quot;isLocked&quot;:false},&quot;8f0ccdf7-ed8c-4352-98dd-62c44d0c20a4&quot;:{&quot;id&quot;:&quot;8f0ccdf7-ed8c-4352-98dd-62c44d0c20a4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ec8b9468-7df5-4149-be4b-884f1fe96b05&quot;,&quot;order&quot;:&quot;2&quot;}},&quot;d268bccc-a41c-45ce-ba4d-233825695744&quot;:{&quot;id&quot;:&quot;d268bccc-a41c-45ce-ba4d-233825695744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ec8b9468-7df5-4149-be4b-884f1fe96b05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74486a70-d39f-4fa5-9479-5c2d6afe6252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74486a70-d39f-4fa5-9479-5c2d6afe6252&quot;:{&quot;type&quot;:&quot;FIGURE_OBJECT&quot;,&quot;id&quot;:&quot;74486a70-d39f-4fa5-9479-5c2d6afe6252&quot;,&quot;parent&quot;:{&quot;type&quot;:&quot;CHILD&quot;,&quot;parentId&quot;:&quot;b5f6e286-6b83-438e-aeb6-6ed23306d230&quot;,&quot;order&quot;:&quot;99999995&quot;},&quot;relativeTransform&quot;:{&quot;translate&quot;:{&quot;x&quot;:-305.4224137709941,&quot;y&quot;:-384.7451831757423},&quot;rotate&quot;:0,&quot;skewX&quot;:0,&quot;scale&quot;:{&quot;x&quot;:1,&quot;y&quot;:1}},&quot;isLocked&quot;:false},&quot;fbaffc7c-ad58-433a-89eb-869b331c90cf&quot;:{&quot;id&quot;:&quot;fbaffc7c-ad58-433a-89eb-869b331c90cf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74486a70-d39f-4fa5-9479-5c2d6afe6252&quot;,&quot;order&quot;:&quot;2&quot;}},&quot;79c490c8-31a2-4c0a-87fa-7428b225227b&quot;:{&quot;id&quot;:&quot;79c490c8-31a2-4c0a-87fa-7428b225227b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74486a70-d39f-4fa5-9479-5c2d6afe6252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64c1ea9f-ba28-4b9b-85e6-d816d8a0140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64c1ea9f-ba28-4b9b-85e6-d816d8a01405&quot;:{&quot;type&quot;:&quot;FIGURE_OBJECT&quot;,&quot;id&quot;:&quot;64c1ea9f-ba28-4b9b-85e6-d816d8a01405&quot;,&quot;parent&quot;:{&quot;type&quot;:&quot;CHILD&quot;,&quot;parentId&quot;:&quot;b5f6e286-6b83-438e-aeb6-6ed23306d230&quot;,&quot;order&quot;:&quot;99999997&quot;},&quot;relativeTransform&quot;:{&quot;translate&quot;:{&quot;x&quot;:-351.23141377099415,&quot;y&quot;:-371.2621831757422},&quot;rotate&quot;:0,&quot;skewX&quot;:0,&quot;scale&quot;:{&quot;x&quot;:1,&quot;y&quot;:1}},&quot;isLocked&quot;:false},&quot;9f7e24eb-fb90-4e86-8b23-afa9d292c2d5&quot;:{&quot;id&quot;:&quot;9f7e24eb-fb90-4e86-8b23-afa9d292c2d5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64c1ea9f-ba28-4b9b-85e6-d816d8a01405&quot;,&quot;order&quot;:&quot;2&quot;}},&quot;06b9b26a-4528-49ad-9b7c-b1d69cc8493b&quot;:{&quot;id&quot;:&quot;06b9b26a-4528-49ad-9b7c-b1d69cc8493b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64c1ea9f-ba28-4b9b-85e6-d816d8a01405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77c65cc-1191-437d-810b-8f95c4601bdd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77c65cc-1191-437d-810b-8f95c4601bdd&quot;:{&quot;type&quot;:&quot;FIGURE_OBJECT&quot;,&quot;id&quot;:&quot;b77c65cc-1191-437d-810b-8f95c4601bdd&quot;,&quot;relativeTransform&quot;:{&quot;translate&quot;:{&quot;x&quot;:17.65147310517898,&quot;y&quot;:-310.3325483520104},&quot;rotate&quot;:-0.550960767211933,&quot;skewX&quot;:5.5511151231257815e-17,&quot;scale&quot;:{&quot;x&quot;:1,&quot;y&quot;:1.0000000000000004}},&quot;opacity&quot;:1,&quot;path&quot;:{&quot;type&quot;:&quot;POLY_LINE&quot;,&quot;points&quot;:[{&quot;x&quot;:-29.75188156982071,&quot;y&quot;:36.88175498386036},{&quot;x&quot;:-47.18388004650524,&quot;y&quot;:65.2528595157874}],&quot;closed&quot;:false},&quot;pathStyles&quot;:[{&quot;type&quot;:&quot;FILL&quot;,&quot;fillStyle&quot;:&quot;transparent&quot;},{&quot;type&quot;:&quot;STROKE&quot;,&quot;strokeStyle&quot;:&quot;#232323&quot;,&quot;lineWidth&quot;:1.013877271043968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8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aaf4bf2c-2549-4823-9dc2-993046e522e9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aaf4bf2c-2549-4823-9dc2-993046e522e9&quot;:{&quot;type&quot;:&quot;FIGURE_OBJECT&quot;,&quot;id&quot;:&quot;aaf4bf2c-2549-4823-9dc2-993046e522e9&quot;,&quot;relativeTransform&quot;:{&quot;translate&quot;:{&quot;x&quot;:158.1120466429341,&quot;y&quot;:-320.1039090944351},&quot;rotate&quot;:-0.550960767211933,&quot;skewX&quot;:5.5511151231257815e-17,&quot;scale&quot;:{&quot;x&quot;:1,&quot;y&quot;:1.0000000000000004}},&quot;opacity&quot;:1,&quot;path&quot;:{&quot;type&quot;:&quot;POLY_LINE&quot;,&quot;points&quot;:[{&quot;x&quot;:-42.465200041866545,&quot;y&quot;:52.641749719568324},{&quot;x&quot;:-67.3460903715998,&quot;y&quot;:93.13615094019839}],&quot;closed&quot;:false},&quot;pathStyles&quot;:[{&quot;type&quot;:&quot;FILL&quot;,&quot;fillStyle&quot;:&quot;transparent&quot;},{&quot;type&quot;:&quot;STROKE&quot;,&quot;strokeStyle&quot;:&quot;#232323&quot;,&quot;lineWidth&quot;:1.447118597583316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f0da12e5-c5ca-4bc0-84ea-37125c98b94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f0da12e5-c5ca-4bc0-84ea-37125c98b946&quot;:{&quot;relativeTransform&quot;:{&quot;translate&quot;:{&quot;x&quot;:-298.0933688474573,&quot;y&quot;:-175.99500539922053},&quot;rotate&quot;:0,&quot;skewX&quot;:0,&quot;scale&quot;:{&quot;x&quot;:1,&quot;y&quot;:1}},&quot;type&quot;:&quot;FIGURE_OBJECT&quot;,&quot;id&quot;:&quot;f0da12e5-c5ca-4bc0-84ea-37125c98b946&quot;,&quot;opacity&quot;:1,&quot;path&quot;:{&quot;type&quot;:&quot;RECT&quot;,&quot;size&quot;:{&quot;x&quot;:35.40406221041653,&quot;y&quot;:21.481116444587236},&quot;cornerRounding&quot;:{&quot;type&quot;:&quot;ARC_LENGTH&quot;,&quot;global&quot;:27.600190700432858}},&quot;pathStyles&quot;:[{&quot;type&quot;:&quot;FILL&quot;,&quot;fillStyle&quot;:&quot;rgba(253, 245, 113, 1)&quot;},{&quot;type&quot;:&quot;STROKE&quot;,&quot;strokeStyle&quot;:&quot;rgba(207, 169, 51, 1)&quot;,&quot;lineWidth&quot;:1.405666169680912,&quot;lineJoin&quot;:&quot;round&quot;}],&quot;isLocked&quot;:false,&quot;parent&quot;:{&quot;type&quot;:&quot;CHILD&quot;,&quot;parentId&quot;:&quot;b5f6e286-6b83-438e-aeb6-6ed23306d230&quot;,&quot;order&quot;:&quot;999999995&quot;},&quot;layout&quot;:{&quot;sizeRatio&quot;:{&quot;x&quot;:0.88,&quot;y&quot;:0.88},&quot;keepAspectRatio&quot;:false},&quot;name&quot;:&quot;ATP (pathway)&quot;,&quot;displayName&quot;:&quot;ATP (pathway)&quot;,&quot;source&quot;:{&quot;id&quot;:&quot;6331f1a3e8ade676f3ce0441&quot;,&quot;type&quot;:&quot;ASSETS&quot;},&quot;isPremium&quot;:false},&quot;14cc4e6e-c58d-4cfb-87d0-c087c37bc49d&quot;:{&quot;id&quot;:&quot;14cc4e6e-c58d-4cfb-87d0-c087c37bc49d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Roboto&quot;,&quot;fontSize&quot;:11.245329357447297,&quot;color&quot;:&quot;black&quot;,&quot;fontWeight&quot;:&quot;normal&quot;,&quot;fontStyle&quot;:&quot;normal&quot;,&quot;decoration&quot;:&quot;none&quot;},&quot;range&quot;:[0,2]}],&quot;text&quot;:&quot;ATP&quot;}],&quot;_lastCaretLocation&quot;:{&quot;lineIndex&quot;:0,&quot;runIndex&quot;:-1,&quot;charIndex&quot;:-1,&quot;endOfLine&quot;:true}},&quot;format&quot;:&quot;BETTER_TEXT&quot;,&quot;size&quot;:{&quot;x&quot;:35.40406221041653,&quot;y&quot;:13.353828611968666},&quot;targetSize&quot;:{&quot;x&quot;:35.40406221041653,&quot;y&quot;:2}},&quot;parent&quot;:{&quot;type&quot;:&quot;CHILD&quot;,&quot;parentId&quot;:&quot;f0da12e5-c5ca-4bc0-84ea-37125c98b946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863b14d5-20fe-4cb1-9cc6-a10b40f7687e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863b14d5-20fe-4cb1-9cc6-a10b40f7687e&quot;:{&quot;type&quot;:&quot;FIGURE_OBJECT&quot;,&quot;id&quot;:&quot;863b14d5-20fe-4cb1-9cc6-a10b40f7687e&quot;,&quot;relativeTransform&quot;:{&quot;translate&quot;:{&quot;x&quot;:0,&quot;y&quot;:-46.40718562874255},&quot;rotate&quot;:0,&quot;skewX&quot;:0,&quot;scale&quot;:{&quot;x&quot;:1,&quot;y&quot;:1}},&quot;opacity&quot;:1,&quot;path&quot;:{&quot;type&quot;:&quot;POLY_LINE&quot;,&quot;points&quot;:[{&quot;x&quot;:-280.39133774224905,&quot;y&quot;:-124.06847236162001},{&quot;x&quot;:-248.1922571240071,&quot;y&quot;:-109.23471277082717}],&quot;closed&quot;:false},&quot;pathStyles&quot;:[{&quot;type&quot;:&quot;FILL&quot;,&quot;fillStyle&quot;:&quot;transparent&quot;},{&quot;type&quot;:&quot;STROKE&quot;,&quot;strokeStyle&quot;:&quot;#232323&quot;,&quot;lineWidth&quot;:0.8061694828080563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7&quot;},&quot;connectorInfo&quot;:{&quot;connectedObjectAtLineStart&quot;:{&quot;objectId&quot;:&quot;f0da12e5-c5ca-4bc0-84ea-37125c98b946&quot;,&quot;coordinates&quot;:{&quot;x&quot;:1,&quot;y&quot;:0.7569395041964285}},&quot;type&quot;:&quot;LINE&quot;,&quot;offset&quot;:{&quot;x&quot;:0,&quot;y&quot;:0},&quot;bending&quot;: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12ce6e15-b978-4d3c-8908-c3c0eb26bb40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12ce6e15-b978-4d3c-8908-c3c0eb26bb40&quot;:{&quot;type&quot;:&quot;FIGURE_OBJECT&quot;,&quot;id&quot;:&quot;12ce6e15-b978-4d3c-8908-c3c0eb26bb40&quot;,&quot;relativeTransform&quot;:{&quot;translate&quot;:{&quot;x&quot;:96.70500000000001,&quot;y&quot;:-75.16518562874256},&quot;rotate&quot;:0,&quot;skewX&quot;:0,&quot;scale&quot;:{&quot;x&quot;:1,&quot;y&quot;:1}},&quot;opacity&quot;:1,&quot;path&quot;:{&quot;type&quot;:&quot;POLY_LINE&quot;,&quot;points&quot;:[{&quot;x&quot;:-260.5,&quot;y&quot;:-158},{&quot;x&quot;:-238.11424350592665,&quot;y&quot;:-140.6747203653259},{&quot;x&quot;:-225.13050656834798,&quot;y&quot;:-108.89289529878553},{&quot;x&quot;:-211.36909136267474,&quot;y&quot;:-49.95960887010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8&quot;},&quot;connectorInfo&quot;:{&quot;type&quot;:&quot;QUADRATIC&quot;,&quot;offset&quot;:{&quot;x&quot;:0,&quot;y&quot;:0},&quot;bending&quot;:-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f7125161-8b37-4b43-bdaa-c36863ce6aab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f7125161-8b37-4b43-bdaa-c36863ce6aab&quot;:{&quot;type&quot;:&quot;FIGURE_OBJECT&quot;,&quot;id&quot;:&quot;f7125161-8b37-4b43-bdaa-c36863ce6aab&quot;,&quot;parent&quot;:{&quot;type&quot;:&quot;CHILD&quot;,&quot;parentId&quot;:&quot;b5f6e286-6b83-438e-aeb6-6ed23306d230&quot;,&quot;order&quot;:&quot;9999999998&quot;},&quot;relativeTransform&quot;:{&quot;translate&quot;:{&quot;x&quot;:-238.03812085941192,&quot;y&quot;:-251.1703071861562},&quot;rotate&quot;:0,&quot;skewX&quot;:0,&quot;scale&quot;:{&quot;x&quot;:1,&quot;y&quot;:1}},&quot;isLocked&quot;:false},&quot;1ec2c02c-70a1-4474-9c9b-c0cd3f4390d6&quot;:{&quot;id&quot;:&quot;1ec2c02c-70a1-4474-9c9b-c0cd3f4390d6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f7125161-8b37-4b43-bdaa-c36863ce6aab&quot;,&quot;order&quot;:&quot;2&quot;}},&quot;824c17ac-bc38-4da6-8825-87325879a840&quot;:{&quot;id&quot;:&quot;824c17ac-bc38-4da6-8825-87325879a840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f7125161-8b37-4b43-bdaa-c36863ce6aab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bc9e9fa-d002-4c5f-a1e9-75b6bcf7643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bc9e9fa-d002-4c5f-a1e9-75b6bcf76436&quot;:{&quot;type&quot;:&quot;FIGURE_OBJECT&quot;,&quot;id&quot;:&quot;bbc9e9fa-d002-4c5f-a1e9-75b6bcf76436&quot;,&quot;parent&quot;:{&quot;type&quot;:&quot;CHILD&quot;,&quot;parentId&quot;:&quot;b5f6e286-6b83-438e-aeb6-6ed23306d230&quot;,&quot;order&quot;:&quot;9999999999&quot;},&quot;relativeTransform&quot;:{&quot;translate&quot;:{&quot;x&quot;:-215.67917867898697,&quot;y&quot;:-242.40623926557106},&quot;rotate&quot;:0,&quot;skewX&quot;:0,&quot;scale&quot;:{&quot;x&quot;:1,&quot;y&quot;:1}},&quot;isLocked&quot;:false},&quot;b880bffc-6214-4b84-bdf1-ac3bd5997b93&quot;:{&quot;id&quot;:&quot;b880bffc-6214-4b84-bdf1-ac3bd5997b93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bc9e9fa-d002-4c5f-a1e9-75b6bcf76436&quot;,&quot;order&quot;:&quot;2&quot;}},&quot;d6c4cd4d-6777-4331-a795-066a0862b4f6&quot;:{&quot;id&quot;:&quot;d6c4cd4d-6777-4331-a795-066a0862b4f6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bbc9e9fa-d002-4c5f-a1e9-75b6bcf76436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84f071e-e2ca-4619-9c50-7b0bb3bbaa9a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84f071e-e2ca-4619-9c50-7b0bb3bbaa9a&quot;:{&quot;type&quot;:&quot;FIGURE_OBJECT&quot;,&quot;id&quot;:&quot;b84f071e-e2ca-4619-9c50-7b0bb3bbaa9a&quot;,&quot;parent&quot;:{&quot;type&quot;:&quot;CHILD&quot;,&quot;parentId&quot;:&quot;b5f6e286-6b83-438e-aeb6-6ed23306d230&quot;,&quot;order&quot;:&quot;99999999995&quot;},&quot;relativeTransform&quot;:{&quot;translate&quot;:{&quot;x&quot;:-184.94860501127542,&quot;y&quot;:-291.1595036333871},&quot;rotate&quot;:0,&quot;skewX&quot;:0,&quot;scale&quot;:{&quot;x&quot;:1,&quot;y&quot;:1}},&quot;isLocked&quot;:false},&quot;601b2537-4cfc-48e6-b0eb-bacafb280529&quot;:{&quot;id&quot;:&quot;601b2537-4cfc-48e6-b0eb-bacafb280529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84f071e-e2ca-4619-9c50-7b0bb3bbaa9a&quot;,&quot;order&quot;:&quot;2&quot;}},&quot;b151a49f-d660-4777-a2fd-198a8974cb58&quot;:{&quot;id&quot;:&quot;b151a49f-d660-4777-a2fd-198a8974cb58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b84f071e-e2ca-4619-9c50-7b0bb3bbaa9a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8b1ba87-473b-449b-91cc-4d725c84719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8b1ba87-473b-449b-91cc-4d725c847197&quot;:{&quot;type&quot;:&quot;FIGURE_OBJECT&quot;,&quot;id&quot;:&quot;b8b1ba87-473b-449b-91cc-4d725c847197&quot;,&quot;parent&quot;:{&quot;type&quot;:&quot;CHILD&quot;,&quot;parentId&quot;:&quot;b5f6e286-6b83-438e-aeb6-6ed23306d230&quot;,&quot;order&quot;:&quot;99999999997&quot;},&quot;relativeTransform&quot;:{&quot;translate&quot;:{&quot;x&quot;:-220.29406882554878,&quot;y&quot;:-100.39469371299802},&quot;rotate&quot;:0,&quot;skewX&quot;:0,&quot;scale&quot;:{&quot;x&quot;:1,&quot;y&quot;:1}},&quot;isLocked&quot;:false},&quot;d639a214-47d1-478c-a78e-4b9b7ced14aa&quot;:{&quot;id&quot;:&quot;d639a214-47d1-478c-a78e-4b9b7ced14aa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8b1ba87-473b-449b-91cc-4d725c847197&quot;,&quot;order&quot;:&quot;2&quot;}},&quot;8f004ae2-b286-4a73-a6d6-94fd20f1914e&quot;:{&quot;id&quot;:&quot;8f004ae2-b286-4a73-a6d6-94fd20f1914e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b8b1ba87-473b-449b-91cc-4d725c847197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a9e9aa8e-56e6-4f96-97ff-3a193a0bd144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a9e9aa8e-56e6-4f96-97ff-3a193a0bd144&quot;:{&quot;type&quot;:&quot;FIGURE_OBJECT&quot;,&quot;id&quot;:&quot;a9e9aa8e-56e6-4f96-97ff-3a193a0bd144&quot;,&quot;parent&quot;:{&quot;type&quot;:&quot;CHILD&quot;,&quot;parentId&quot;:&quot;b5f6e286-6b83-438e-aeb6-6ed23306d230&quot;,&quot;order&quot;:&quot;99999999998&quot;},&quot;relativeTransform&quot;:{&quot;translate&quot;:{&quot;x&quot;:140.17156217785728,&quot;y&quot;:28.815760386118228},&quot;rotate&quot;:0,&quot;skewX&quot;:0,&quot;scale&quot;:{&quot;x&quot;:1,&quot;y&quot;:1}},&quot;isLocked&quot;:false},&quot;00573c3e-c409-4146-81ec-9033e4114e77&quot;:{&quot;id&quot;:&quot;00573c3e-c409-4146-81ec-9033e4114e77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a9e9aa8e-56e6-4f96-97ff-3a193a0bd144&quot;,&quot;order&quot;:&quot;2&quot;}},&quot;519eaeac-f055-4d2c-bf79-9a88a2b3ce1c&quot;:{&quot;id&quot;:&quot;519eaeac-f055-4d2c-bf79-9a88a2b3ce1c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a9e9aa8e-56e6-4f96-97ff-3a193a0bd144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4b077f8-ec28-4f71-9505-027f7209d51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4b077f8-ec28-4f71-9505-027f7209d517&quot;:{&quot;id&quot;:&quot;b4b077f8-ec28-4f71-9505-027f7209d517&quot;,&quot;name&quot;:&quot;P2X7 receptor (cartoon)&quot;,&quot;displayName&quot;:&quot;&quot;,&quot;type&quot;:&quot;FIGURE_OBJECT&quot;,&quot;relativeTransform&quot;:{&quot;translate&quot;:{&quot;x&quot;:-200.16392709102738,&quot;y&quot;:-141.69823368112978},&quot;rotate&quot;:-0.635131128332275,&quot;skewX&quot;:2.517226434458028e-16,&quot;scale&quot;:{&quot;x&quot;:0.575141366174098,&quot;y&quot;:0.59131680220796}},&quot;image&quot;:{&quot;url&quot;:&quot;https://icons.cdn.biorender.com/biorender/5a733b7cb3cdac0014f5d4ee/20180201161819/image/5a733b7cb3cdac0014f5d4ee.png&quot;,&quot;isPremium&quot;:false,&quot;isOrgIcon&quot;:false,&quot;size&quot;:{&quot;x&quot;:150,&quot;y&quot;:150}},&quot;source&quot;:{&quot;id&quot;:&quot;5a733b7cb3cdac0014f5d4ee&quot;,&quot;version&quot;:&quot;20180201161819&quot;,&quot;type&quot;:&quot;ASSETS&quot;},&quot;isPremium&quot;:false,&quot;parent&quot;:{&quot;type&quot;:&quot;CHILD&quot;,&quot;parentId&quot;:&quot;b5f6e286-6b83-438e-aeb6-6ed23306d230&quot;,&quot;order&quot;:&quot;99999999999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ec85e25c-1832-4874-9136-319ba6f4e18b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ec85e25c-1832-4874-9136-319ba6f4e18b&quot;:{&quot;type&quot;:&quot;FIGURE_OBJECT&quot;,&quot;id&quot;:&quot;ec85e25c-1832-4874-9136-319ba6f4e18b&quot;,&quot;relativeTransform&quot;:{&quot;translate&quot;:{&quot;x&quot;:-245.3230341744199,&quot;y&quot;:63.09654416016484},&quot;rotate&quot;:-0.8296155549282109,&quot;skewX&quot;:0,&quot;scale&quot;:{&quot;x&quot;:1,&quot;y&quot;:1}},&quot;opacity&quot;:1,&quot;path&quot;:{&quot;type&quot;:&quot;POLY_LINE&quot;,&quot;points&quot;:[{&quot;x&quot;:207.65647035409907,&quot;y&quot;:-172.00402463133472},{&quot;x&quot;:189.81175949127518,&quot;y&quot;:-153.14315232103567},{&quot;x&quot;:179.46182864880407,&quot;y&quot;:-118.54440661487125},{&quot;x&quot;:180.1151803639932,&quot;y&quot;:-29.51669476002784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312444072849357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5&quot;},&quot;connectorInfo&quot;:{&quot;type&quot;:&quot;QUADRATIC&quot;,&quot;offset&quot;:{&quot;x&quot;:0,&quot;y&quot;:0},&quot;bending&quot;:-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0d719730-0be5-4f85-b007-a9167d8be74c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0d719730-0be5-4f85-b007-a9167d8be74c&quot;:{&quot;type&quot;:&quot;FIGURE_OBJECT&quot;,&quot;id&quot;:&quot;0d719730-0be5-4f85-b007-a9167d8be74c&quot;,&quot;relativeTransform&quot;:{&quot;translate&quot;:{&quot;x&quot;:0,&quot;y&quot;:-46.40718562874255},&quot;rotate&quot;:0,&quot;skewX&quot;:0,&quot;scale&quot;:{&quot;x&quot;:1,&quot;y&quot;:1}},&quot;opacity&quot;:1,&quot;path&quot;:{&quot;type&quot;:&quot;POLY_LINE&quot;,&quot;points&quot;:[{&quot;x&quot;:-113.2466354522746,&quot;y&quot;:36.52067108233861},{&quot;x&quot;:-131.87612918752282,&quot;y&quot;:-106.70087599534638}],&quot;closed&quot;:false},&quot;pathStyles&quot;:[{&quot;type&quot;:&quot;FILL&quot;,&quot;fillStyle&quot;:&quot;transparent&quot;},{&quot;type&quot;:&quot;STROKE&quot;,&quot;strokeStyle&quot;:&quot;#232323&quot;,&quot;lineWidth&quot;:0.7491573872869005,&quot;lineJoin&quot;:&quot;round&quot;,&quot;dashArray&quot;:[0,0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8&quot;},&quot;connectorInfo&quot;:{&quot;type&quot;:&quot;LINE&quot;,&quot;offset&quot;:{&quot;x&quot;:0,&quot;y&quot;:0},&quot;bending&quot;: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87d58efd-db68-476f-a939-e60fa3dd3188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87d58efd-db68-476f-a939-e60fa3dd3188&quot;:{&quot;id&quot;:&quot;87d58efd-db68-476f-a939-e60fa3dd3188&quot;,&quot;name&quot;:&quot;Vesicle (large, stage 4)&quot;,&quot;displayName&quot;:&quot;&quot;,&quot;type&quot;:&quot;FIGURE_OBJECT&quot;,&quot;relativeTransform&quot;:{&quot;translate&quot;:{&quot;x&quot;:-236.50469960667135,&quot;y&quot;:-59.8981969137643},&quot;rotate&quot;:-1.0055955801734489,&quot;skewX&quot;:-9.431748382511946e-17,&quot;scale&quot;:{&quot;x&quot;:0.5424741101742321,&quot;y&quot;:0.6002478272643411}},&quot;image&quot;:{&quot;url&quot;:&quot;https://icons.cdn.biorender.com/biorender/5b4ccd581757070014aad187/20180716190022/image/5b4ccd581757070014aad187.png&quot;,&quot;isPremium&quot;:false,&quot;isOrgIcon&quot;:false,&quot;size&quot;:{&quot;x&quot;:100,&quot;y&quot;:126.85185185185185},&quot;fallbackUrl&quot;:&quot;sources/icons/5b4ccd581757070014aad187/20180716190022/image/5b4ccd581757070014aad187.svg&quot;},&quot;source&quot;:{&quot;id&quot;:&quot;5b4ccd581757070014aad187&quot;,&quot;version&quot;:&quot;20180716190022&quot;,&quot;type&quot;:&quot;ASSETS&quot;},&quot;isPremium&quot;:false,&quot;parent&quot;:{&quot;type&quot;:&quot;CHILD&quot;,&quot;parentId&quot;:&quot;b5f6e286-6b83-438e-aeb6-6ed23306d230&quot;,&quot;order&quot;:&quot;9999999999997&quot;},&quot;styles&quot;:{&quot;editable&quot;:[{&quot;styleName&quot;:&quot;SATURATE&quot;,&quot;index&quot;:0,&quot;value&quot;:100}]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f45cba3-598e-4bdc-bdbc-e217232986cc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f45cba3-598e-4bdc-bdbc-e217232986cc&quot;:{&quot;type&quot;:&quot;FIGURE_OBJECT&quot;,&quot;id&quot;:&quot;bf45cba3-598e-4bdc-bdbc-e217232986cc&quot;,&quot;name&quot;:&quot;Ion channel (generic, open)&quot;,&quot;relativeTransform&quot;:{&quot;translate&quot;:{&quot;x&quot;:-69.6022363498762,&quot;y&quot;:89.8268318099543},&quot;rotate&quot;:1.338233117511035,&quot;skewX&quot;:2.1597556243042754e-16,&quot;scale&quot;:{&quot;x&quot;:0.3104584208529818,&quot;y&quot;:0.3104584208529816}},&quot;opacity&quot;:1,&quot;image&quot;:{&quot;url&quot;:&quot;https://icons.cdn.biorender.com/biorender/5e28a2b91def080027889a7b/5c0ab2c83fbb901200f2abd0.png&quot;,&quot;fallbackUrl&quot;:&quot;sources/icons/5e28a2b91def080027889a7b/5c0ab2c83fbb901200f2abd0.svg&quot;,&quot;size&quot;:{&quot;x&quot;:106,&quot;y&quot;:123},&quot;isPremium&quot;:false},&quot;source&quot;:{&quot;id&quot;:&quot;5c0ab2c83fbb901200f2abd0&quot;,&quot;type&quot;:&quot;ASSETS&quot;},&quot;pathStyles&quot;:[{&quot;type&quot;:&quot;FILL&quot;,&quot;fillStyle&quot;:&quot;rgb(0,0,0)&quot;}],&quot;isLocked&quot;:false,&quot;parent&quot;:{&quot;type&quot;:&quot;CHILD&quot;,&quot;parentId&quot;:&quot;b5f6e286-6b83-438e-aeb6-6ed23306d230&quot;,&quot;order&quot;:&quot;9999999999998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d9da9f0-24ea-46b0-b08b-2de2067f4b0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d9da9f0-24ea-46b0-b08b-2de2067f4b07&quot;:{&quot;type&quot;:&quot;FIGURE_OBJECT&quot;,&quot;id&quot;:&quot;bd9da9f0-24ea-46b0-b08b-2de2067f4b07&quot;,&quot;relativeTransform&quot;:{&quot;translate&quot;:{&quot;x&quot;:59.51011870947158,&quot;y&quot;:245.3615432889464},&quot;rotate&quot;:-1.7838174514726004,&quot;skewX&quot;:0,&quot;scale&quot;:{&quot;x&quot;:0.9999999999999997,&quot;y&quot;:0.9999999999999997}},&quot;opacity&quot;:1,&quot;path&quot;:{&quot;type&quot;:&quot;POLY_LINE&quot;,&quot;points&quot;:[{&quot;x&quot;:194.5220788246438,&quot;y&quot;:-153.05377540424274},{&quot;x&quot;:182.24142709945943,&quot;y&quot;:-131.3948991071401},{&quot;x&quot;:179.0319834508264,&quot;y&quot;:-64.95648558022557},{&quot;x&quot;:181.73551022780413,&quot;y&quot;:-41.92206969158644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312444072849357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995&quot;},&quot;connectorInfo&quot;:{&quot;type&quot;:&quot;QUADRATIC&quot;,&quot;offset&quot;:{&quot;x&quot;:0,&quot;y&quot;:0},&quot;bending&quot;:-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11a24e77-cbd4-4013-975b-78516ea4666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0c120ad0-87e0-4bf3-a66c-7558c69230d9&quot;:{&quot;id&quot;:&quot;0c120ad0-87e0-4bf3-a66c-7558c69230d9&quot;,&quot;name&quot;:&quot;Mitochondria (schematic, icon)&quot;,&quot;displayName&quot;:&quot;&quot;,&quot;type&quot;:&quot;FIGURE_OBJECT&quot;,&quot;relativeTransform&quot;:{&quot;translate&quot;:{&quot;x&quot;:173.48032884019887,&quot;y&quot;:-30.139854528785577},&quot;rotate&quot;:1.493461924268537,&quot;skewX&quot;:-3.316986611332622e-17,&quot;scale&quot;:{&quot;x&quot;:0.323413590931565,&quot;y&quot;:0.3234135909315654}},&quot;image&quot;:{&quot;url&quot;:&quot;https://icons.cdn.biorender.com/biorender/5f862bd96017ff0026261cfe/20201020194825/image/5f862bd96017ff0026261cfe.png&quot;,&quot;isPremium&quot;:false,&quot;isOrgIcon&quot;:false,&quot;size&quot;:{&quot;x&quot;:450,&quot;y&quot;:224.43890274314217}},&quot;source&quot;:{&quot;id&quot;:&quot;5f862bd96017ff0026261cfe&quot;,&quot;version&quot;:&quot;20201020194825&quot;,&quot;type&quot;:&quot;ASSETS&quot;},&quot;isPremium&quot;:false,&quot;parent&quot;:{&quot;type&quot;:&quot;CHILD&quot;,&quot;parentId&quot;:&quot;11a24e77-cbd4-4013-975b-78516ea46663&quot;,&quot;order&quot;:&quot;1&quot;},&quot;isLocked&quot;:false},&quot;b3e03f7f-95d9-4708-b461-20bc2d49d57f&quot;:{&quot;type&quot;:&quot;FIGURE_OBJECT&quot;,&quot;id&quot;:&quot;b3e03f7f-95d9-4708-b461-20bc2d49d57f&quot;,&quot;parent&quot;:{&quot;type&quot;:&quot;CHILD&quot;,&quot;parentId&quot;:&quot;11a24e77-cbd4-4013-975b-78516ea46663&quot;,&quot;order&quot;:&quot;7&quot;},&quot;relativeTransform&quot;:{&quot;translate&quot;:{&quot;x&quot;:88.89185645726167,&quot;y&quot;:-170.9561006837498},&quot;rotate&quot;:0,&quot;skewX&quot;:0,&quot;scale&quot;:{&quot;x&quot;:1,&quot;y&quot;:1}},&quot;isLocked&quot;:false},&quot;7325eb6b-335a-466a-9d86-22a10e22638c&quot;:{&quot;id&quot;:&quot;7325eb6b-335a-466a-9d86-22a10e22638c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3e03f7f-95d9-4708-b461-20bc2d49d57f&quot;,&quot;order&quot;:&quot;2&quot;}},&quot;54dfde02-9c55-4734-a643-89b33d245523&quot;:{&quot;id&quot;:&quot;54dfde02-9c55-4734-a643-89b33d245523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b3e03f7f-95d9-4708-b461-20bc2d49d57f&quot;,&quot;order&quot;:&quot;5&quot;}},&quot;46086c36-a8eb-42a3-b295-30fda7c8a6f9&quot;:{&quot;type&quot;:&quot;FIGURE_OBJECT&quot;,&quot;id&quot;:&quot;46086c36-a8eb-42a3-b295-30fda7c8a6f9&quot;,&quot;parent&quot;:{&quot;type&quot;:&quot;CHILD&quot;,&quot;parentId&quot;:&quot;11a24e77-cbd4-4013-975b-78516ea46663&quot;,&quot;order&quot;:&quot;8&quot;},&quot;relativeTransform&quot;:{&quot;translate&quot;:{&quot;x&quot;:88.89164283495873,&quot;y&quot;:-184.43819223834393},&quot;rotate&quot;:0,&quot;skewX&quot;:0,&quot;scale&quot;:{&quot;x&quot;:1,&quot;y&quot;:1}},&quot;isLocked&quot;:false},&quot;582f3704-520f-460e-ae56-04d71c2ffab0&quot;:{&quot;id&quot;:&quot;582f3704-520f-460e-ae56-04d71c2ffab0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46086c36-a8eb-42a3-b295-30fda7c8a6f9&quot;,&quot;order&quot;:&quot;2&quot;}},&quot;e476d7f1-5280-4c71-b8b7-f5ce2e9817fb&quot;:{&quot;id&quot;:&quot;e476d7f1-5280-4c71-b8b7-f5ce2e9817fb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46086c36-a8eb-42a3-b295-30fda7c8a6f9&quot;,&quot;order&quot;:&quot;5&quot;}},&quot;ac67e602-55ad-41ae-8d1b-1d7e07fdf188&quot;:{&quot;id&quot;:&quot;ac67e602-55ad-41ae-8d1b-1d7e07fdf188&quot;,&quot;name&quot;:&quot;Na/Ca exchanger (closed, schematic)&quot;,&quot;displayName&quot;:&quot;&quot;,&quot;type&quot;:&quot;FIGURE_OBJECT&quot;,&quot;relativeTransform&quot;:{&quot;translate&quot;:{&quot;x&quot;:148.14590603375427,&quot;y&quot;:-59.056593127226364},&quot;rotate&quot;:-1.7657702812913394,&quot;skewX&quot;:0,&quot;scale&quot;:{&quot;x&quot;:0.8264642977032428,&quot;y&quot;:0.5292351484365136}},&quot;image&quot;:{&quot;url&quot;:&quot;https://icons.cdn.biorender.com/biorender/5ee784216ccd7c002897921d/5ee783206ccd7c0028979217.png&quot;,&quot;isPremium&quot;:false,&quot;isOrgIcon&quot;:false,&quot;size&quot;:{&quot;x&quot;:50,&quot;y&quot;:80.97826086956522},&quot;fallbackUrl&quot;:&quot;sources/icons/5ee784216ccd7c002897921d/5ee783206ccd7c0028979217.svg&quot;},&quot;source&quot;:{&quot;id&quot;:&quot;5ee783206ccd7c0028979217&quot;,&quot;version&quot;:&quot;20200615142221&quot;,&quot;type&quot;:&quot;ASSETS&quot;},&quot;isPremium&quot;:false,&quot;parent&quot;:{&quot;type&quot;:&quot;CHILD&quot;,&quot;parentId&quot;:&quot;11a24e77-cbd4-4013-975b-78516ea46663&quot;,&quot;order&quot;:&quot;2&quot;}},&quot;fabf2a8b-0ca3-43de-be5b-83dc61bfd48c&quot;:{&quot;id&quot;:&quot;fabf2a8b-0ca3-43de-be5b-83dc61bfd48c&quot;,&quot;name&quot;:&quot;Na/Ca exchanger (closed, schematic)&quot;,&quot;displayName&quot;:&quot;&quot;,&quot;type&quot;:&quot;FIGURE_OBJECT&quot;,&quot;relativeTransform&quot;:{&quot;translate&quot;:{&quot;x&quot;:152.05363189807804,&quot;y&quot;:3.4913135624517224},&quot;rotate&quot;:-1.570796326794897,&quot;skewX&quot;:9.819258388837469e-18,&quot;scale&quot;:{&quot;x&quot;:0.8922965509590367,&quot;y&quot;:0.5713915276298595}},&quot;image&quot;:{&quot;url&quot;:&quot;https://icons.cdn.biorender.com/biorender/5ee784216ccd7c002897921d/5ee783206ccd7c0028979217.png&quot;,&quot;isPremium&quot;:false,&quot;isOrgIcon&quot;:false,&quot;size&quot;:{&quot;x&quot;:50,&quot;y&quot;:80.97826086956522},&quot;fallbackUrl&quot;:&quot;sources/icons/5ee784216ccd7c002897921d/5ee783206ccd7c0028979217.svg&quot;},&quot;source&quot;:{&quot;id&quot;:&quot;5ee783206ccd7c0028979217&quot;,&quot;version&quot;:&quot;20200615142221&quot;,&quot;type&quot;:&quot;ASSETS&quot;},&quot;isPremium&quot;:false,&quot;parent&quot;:{&quot;type&quot;:&quot;CHILD&quot;,&quot;parentId&quot;:&quot;11a24e77-cbd4-4013-975b-78516ea46663&quot;,&quot;order&quot;:&quot;3&quot;}},&quot;6d49e85f-fc8d-42a8-962b-cb80c76ebc0d&quot;:{&quot;type&quot;:&quot;FIGURE_OBJECT&quot;,&quot;id&quot;:&quot;6d49e85f-fc8d-42a8-962b-cb80c76ebc0d&quot;,&quot;relativeTransform&quot;:{&quot;translate&quot;:{&quot;x&quot;:16.496221711247205,&quot;y&quot;:-144.26779386175562},&quot;rotate&quot;:1.2618781643902048,&quot;skewX&quot;:1.1102230246251568e-16,&quot;scale&quot;:{&quot;x&quot;:0.9999999999999999,&quot;y&quot;:1.000000000000001}},&quot;opacity&quot;:1,&quot;path&quot;:{&quot;type&quot;:&quot;POLY_LINE&quot;,&quot;points&quot;:[{&quot;x&quot;:191.54815199261395,&quot;y&quot;:-108.05609628198572},{&quot;x&quot;:191.82253748288554,&quot;y&quot;:-109.84124879635563},{&quot;x&quot;:181.36296425993962,&quot;y&quot;:-85.0254514358188},{&quot;x&quot;:170.27690092647043,&quot;y&quot;:-39.00932458524753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003950102261764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11a24e77-cbd4-4013-975b-78516ea46663&quot;,&quot;order&quot;:&quot;5&quot;},&quot;connectorInfo&quot;:{&quot;type&quot;:&quot;QUADRATIC&quot;,&quot;offset&quot;:{&quot;x&quot;:0,&quot;y&quot;:0},&quot;bending&quot;:-0.1,&quot;customized&quot;:true}},&quot;66e4515f-b2da-4da3-9db8-782099c3a16c&quot;:{&quot;type&quot;:&quot;FIGURE_OBJECT&quot;,&quot;id&quot;:&quot;66e4515f-b2da-4da3-9db8-782099c3a16c&quot;,&quot;relativeTransform&quot;:{&quot;translate&quot;:{&quot;x&quot;:253.99797239345943,&quot;y&quot;:-224.5448066830056},&quot;rotate&quot;:-1.382590387387484,&quot;skewX&quot;:0,&quot;scale&quot;:{&quot;x&quot;:1,&quot;y&quot;:1}},&quot;opacity&quot;:1,&quot;path&quot;:{&quot;type&quot;:&quot;POLY_LINE&quot;,&quot;points&quot;:[{&quot;x&quot;:-191.54815199261398,&quot;y&quot;:-108.05609628198575},{&quot;x&quot;:-191.82253748288556,&quot;y&quot;:-109.84124879635566},{&quot;x&quot;:-185.44240025605916,&quot;y&quot;:-80.64332041501041},{&quot;x&quot;:-170.27690092647046,&quot;y&quot;:-39.00932458524754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003950102261765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11a24e77-cbd4-4013-975b-78516ea46663&quot;,&quot;order&quot;:&quot;6&quot;},&quot;connectorInfo&quot;:{&quot;type&quot;:&quot;QUADRATIC&quot;,&quot;offset&quot;:{&quot;x&quot;:0,&quot;y&quot;:0},&quot;bending&quot;:-0.1,&quot;customized&quot;:true}},&quot;11a24e77-cbd4-4013-975b-78516ea46663&quot;:{&quot;type&quot;:&quot;FIGURE_OBJECT&quot;,&quot;id&quot;:&quot;11a24e77-cbd4-4013-975b-78516ea46663&quot;,&quot;parent&quot;:{&quot;type&quot;:&quot;CHILD&quot;,&quot;parentId&quot;:&quot;b5f6e286-6b83-438e-aeb6-6ed23306d230&quot;,&quot;order&quot;:&quot;999999999999995&quot;},&quot;relativeTransform&quot;:{&quot;translate&quot;:{&quot;x&quot;:-25.97402597402595,&quot;y&quot;:-2.6158831168831185},&quot;rotate&quot;:0,&quot;skewX&quot;:0,&quot;scale&quot;:{&quot;x&quot;:1,&quot;y&quot;:1}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eb114592-2e01-4436-8ebb-5759ab5d563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eb114592-2e01-4436-8ebb-5759ab5d5635&quot;:{&quot;type&quot;:&quot;FIGURE_OBJECT&quot;,&quot;id&quot;:&quot;eb114592-2e01-4436-8ebb-5759ab5d5635&quot;,&quot;relativeTransform&quot;:{&quot;translate&quot;:{&quot;x&quot;:100.87855919228272,&quot;y&quot;:385.283285277408},&quot;rotate&quot;:-0.766145504263626,&quot;skewX&quot;:1.6653345369377353e-16,&quot;scale&quot;:{&quot;x&quot;:0.9999999999999999,&quot;y&quot;:1.0000000000000007}},&quot;opacity&quot;:1,&quot;path&quot;:{&quot;type&quot;:&quot;POLY_LINE&quot;,&quot;points&quot;:[{&quot;x&quot;:196.22182453220012,&quot;y&quot;:-154.9345702814022},{&quot;x&quot;:192.0502194324743,&quot;y&quot;:-144.96884250938868},{&quot;x&quot;:190.48696356217263,&quot;y&quot;:-125.82711450877015},{&quot;x&quot;:188.98187580177688,&quot;y&quot;:-84.3308382540448},{&quot;x&quot;:191.74086471533,&quot;y&quot;:-29.9626643317519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57737661069039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9999&quot;},&quot;connectorInfo&quot;:{&quot;type&quot;:&quot;QUADRATIC&quot;,&quot;offset&quot;:{&quot;x&quot;:0,&quot;y&quot;:0},&quot;bending&quot;:-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dac84f9c-638e-4ff8-b2dc-7dfa051f195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dac84f9c-638e-4ff8-b2dc-7dfa051f1957&quot;:{&quot;id&quot;:&quot;dac84f9c-638e-4ff8-b2dc-7dfa051f1957&quot;,&quot;name&quot;:&quot;D-domain (round binding site, surface)&quot;,&quot;displayName&quot;:&quot;&quot;,&quot;type&quot;:&quot;FIGURE_OBJECT&quot;,&quot;relativeTransform&quot;:{&quot;translate&quot;:{&quot;x&quot;:-189.93033709914008,&quot;y&quot;:117.89445249988977},&quot;rotate&quot;:0,&quot;skewX&quot;:0,&quot;scale&quot;:{&quot;x&quot;:0.20585163388971736,&quot;y&quot;:0.2058516338897177}},&quot;image&quot;:{&quot;url&quot;:&quot;https://icons.cdn.biorender.com/biorender/63dd295652f9f70020b4cd61/20230203153607/image/63dd295652f9f70020b4cd61.png&quot;,&quot;isPremium&quot;:false,&quot;isOrgIcon&quot;:false,&quot;size&quot;:{&quot;x&quot;:100,&quot;y&quot;:150}},&quot;source&quot;:{&quot;id&quot;:&quot;63dd295652f9f70020b4cd61&quot;,&quot;version&quot;:&quot;20230203153607&quot;,&quot;type&quot;:&quot;ASSETS&quot;},&quot;isPremium&quot;:false,&quot;parent&quot;:{&quot;type&quot;:&quot;CHILD&quot;,&quot;parentId&quot;:&quot;b5f6e286-6b83-438e-aeb6-6ed23306d230&quot;,&quot;order&quot;:&quot;9999999999999995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4b42a29b-3266-482d-9c95-a530be1d7641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4b42a29b-3266-482d-9c95-a530be1d7641&quot;:{&quot;id&quot;:&quot;4b42a29b-3266-482d-9c95-a530be1d7641&quot;,&quot;name&quot;:&quot;Sphere&quot;,&quot;type&quot;:&quot;FIGURE_OBJECT&quot;,&quot;relativeTransform&quot;:{&quot;translate&quot;:{&quot;x&quot;:-160.6533765473699,&quot;y&quot;:143.56778935848553},&quot;rotate&quot;:0,&quot;skewX&quot;:0,&quot;scale&quot;:{&quot;x&quot;:0.26965212187328164,&quot;y&quot;:0.26965212187328164}},&quot;image&quot;:{&quot;url&quot;:&quot;https://icons.cdn.biorender.com/biorender/5b8847989629ce1400901caa/20240913182354/image/5b8847989629ce1400901caa.png&quot;,&quot;fallbackUrl&quot;:&quot;sources/icons/5b8847989629ce1400901caa/20240913182354/image/5b8847989629ce1400901caa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5f6e286-6b83-438e-aeb6-6ed23306d230&quot;,&quot;order&quot;:&quot;9999999999999996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5851bbd5-b607-4316-892c-202b30e1484e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851bbd5-b607-4316-892c-202b30e1484e&quot;:{&quot;id&quot;:&quot;5851bbd5-b607-4316-892c-202b30e1484e&quot;,&quot;name&quot;:&quot;D-domain (round binding site, surface)&quot;,&quot;displayName&quot;:&quot;&quot;,&quot;type&quot;:&quot;FIGURE_OBJECT&quot;,&quot;relativeTransform&quot;:{&quot;translate&quot;:{&quot;x&quot;:-169.34494838440654,&quot;y&quot;:143.91674438425065},&quot;rotate&quot;:0,&quot;skewX&quot;:0,&quot;scale&quot;:{&quot;x&quot;:0.20585163388971736,&quot;y&quot;:0.2058516338897177}},&quot;image&quot;:{&quot;url&quot;:&quot;https://icons.cdn.biorender.com/biorender/63dd295652f9f70020b4cd61/20230203153607/image/63dd295652f9f70020b4cd61.png&quot;,&quot;isPremium&quot;:false,&quot;isOrgIcon&quot;:false,&quot;size&quot;:{&quot;x&quot;:100,&quot;y&quot;:150}},&quot;source&quot;:{&quot;id&quot;:&quot;63dd295652f9f70020b4cd61&quot;,&quot;version&quot;:&quot;20230203153607&quot;,&quot;type&quot;:&quot;ASSETS&quot;},&quot;isPremium&quot;:false,&quot;parent&quot;:{&quot;type&quot;:&quot;CHILD&quot;,&quot;parentId&quot;:&quot;b5f6e286-6b83-438e-aeb6-6ed23306d230&quot;,&quot;order&quot;:&quot;9999999999999998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506139fc-5de5-49b6-b2b0-27f5958fe08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06139fc-5de5-49b6-b2b0-27f5958fe085&quot;:{&quot;id&quot;:&quot;506139fc-5de5-49b6-b2b0-27f5958fe085&quot;,&quot;name&quot;:&quot;D-domain (round binding site, surface)&quot;,&quot;displayName&quot;:&quot;&quot;,&quot;type&quot;:&quot;FIGURE_OBJECT&quot;,&quot;relativeTransform&quot;:{&quot;translate&quot;:{&quot;x&quot;:-172.54689056483141,&quot;y&quot;:95.36537308505179},&quot;rotate&quot;:0,&quot;skewX&quot;:0,&quot;scale&quot;:{&quot;x&quot;:0.20585163388971736,&quot;y&quot;:0.2058516338897177}},&quot;image&quot;:{&quot;url&quot;:&quot;https://icons.cdn.biorender.com/biorender/63dd295652f9f70020b4cd61/20230203153607/image/63dd295652f9f70020b4cd61.png&quot;,&quot;isPremium&quot;:false,&quot;isOrgIcon&quot;:false,&quot;size&quot;:{&quot;x&quot;:100,&quot;y&quot;:150}},&quot;source&quot;:{&quot;id&quot;:&quot;63dd295652f9f70020b4cd61&quot;,&quot;version&quot;:&quot;20230203153607&quot;,&quot;type&quot;:&quot;ASSETS&quot;},&quot;isPremium&quot;:false,&quot;parent&quot;:{&quot;type&quot;:&quot;CHILD&quot;,&quot;parentId&quot;:&quot;b5f6e286-6b83-438e-aeb6-6ed23306d230&quot;,&quot;order&quot;:&quot;99999999999999995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2af24f9f-93c2-4078-88a4-cc036d84b4a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2af24f9f-93c2-4078-88a4-cc036d84b4a3&quot;:{&quot;type&quot;:&quot;FIGURE_OBJECT&quot;,&quot;id&quot;:&quot;2af24f9f-93c2-4078-88a4-cc036d84b4a3&quot;,&quot;relativeTransform&quot;:{&quot;translate&quot;:{&quot;x&quot;:-230.23336816440255,&quot;y&quot;:146.03447233015675},&quot;rotate&quot;:0,&quot;skewX&quot;:0,&quot;scale&quot;:{&quot;x&quot;:1,&quot;y&quot;:1}},&quot;opacity&quot;:1,&quot;path&quot;:{&quot;type&quot;:&quot;POLY_LINE&quot;,&quot;points&quot;:[{&quot;x&quot;:-36.74677812608846,&quot;y&quot;:20.027864855451043},{&quot;x&quot;:36.74677812608846,&quot;y&quot;:-20.02786485545104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999998&quot;},&quot;connectorInfo&quot;:{&quot;type&quot;:&quot;LINE&quot;,&quot;offset&quot;:{&quot;x&quot;:0,&quot;y&quot;:0},&quot;bending&quot;:0.1,&quot;customized&quot;:fals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cc6b1096-39f1-4088-b18a-0d2e3efc3a99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cc6b1096-39f1-4088-b18a-0d2e3efc3a99&quot;:{&quot;id&quot;:&quot;cc6b1096-39f1-4088-b18a-0d2e3efc3a99&quot;,&quot;name&quot;:&quot;D-domain (round binding site, surface)&quot;,&quot;displayName&quot;:&quot;&quot;,&quot;type&quot;:&quot;FIGURE_OBJECT&quot;,&quot;relativeTransform&quot;:{&quot;translate&quot;:{&quot;x&quot;:13.888097592604936,&quot;y&quot;:69.5770132801057},&quot;rotate&quot;:0,&quot;skewX&quot;:0,&quot;scale&quot;:{&quot;x&quot;:0.20585163388971736,&quot;y&quot;:0.2058516338897177}},&quot;image&quot;:{&quot;url&quot;:&quot;https://icons.cdn.biorender.com/biorender/63dd295652f9f70020b4cd61/20230203153607/image/63dd295652f9f70020b4cd61.png&quot;,&quot;isPremium&quot;:false,&quot;isOrgIcon&quot;:false,&quot;size&quot;:{&quot;x&quot;:100,&quot;y&quot;:150}},&quot;source&quot;:{&quot;id&quot;:&quot;63dd295652f9f70020b4cd61&quot;,&quot;version&quot;:&quot;20230203153607&quot;,&quot;type&quot;:&quot;ASSETS&quot;},&quot;isPremium&quot;:false,&quot;parent&quot;:{&quot;type&quot;:&quot;CHILD&quot;,&quot;parentId&quot;:&quot;b5f6e286-6b83-438e-aeb6-6ed23306d230&quot;,&quot;order&quot;:&quot;999999999999999985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356e2460-bf95-426f-9577-3784cc5d79f4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356e2460-bf95-426f-9577-3784cc5d79f4&quot;:{&quot;id&quot;:&quot;356e2460-bf95-426f-9577-3784cc5d79f4&quot;,&quot;name&quot;:&quot;D-domain (round binding site, surface)&quot;,&quot;displayName&quot;:&quot;&quot;,&quot;type&quot;:&quot;FIGURE_OBJECT&quot;,&quot;relativeTransform&quot;:{&quot;translate&quot;:{&quot;x&quot;:34.473486307338476,&quot;y&quot;:95.5993051644666},&quot;rotate&quot;:0,&quot;skewX&quot;:0,&quot;scale&quot;:{&quot;x&quot;:0.20585163388971736,&quot;y&quot;:0.2058516338897177}},&quot;image&quot;:{&quot;url&quot;:&quot;https://icons.cdn.biorender.com/biorender/63dd295652f9f70020b4cd61/20230203153607/image/63dd295652f9f70020b4cd61.png&quot;,&quot;isPremium&quot;:false,&quot;isOrgIcon&quot;:false,&quot;size&quot;:{&quot;x&quot;:100,&quot;y&quot;:150}},&quot;source&quot;:{&quot;id&quot;:&quot;63dd295652f9f70020b4cd61&quot;,&quot;version&quot;:&quot;20230203153607&quot;,&quot;type&quot;:&quot;ASSETS&quot;},&quot;isPremium&quot;:false,&quot;parent&quot;:{&quot;type&quot;:&quot;CHILD&quot;,&quot;parentId&quot;:&quot;b5f6e286-6b83-438e-aeb6-6ed23306d230&quot;,&quot;order&quot;:&quot;99999999999999999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c6705aa9-fb52-4027-91fb-e0af44bc7f7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c6705aa9-fb52-4027-91fb-e0af44bc7f75&quot;:{&quot;id&quot;:&quot;c6705aa9-fb52-4027-91fb-e0af44bc7f75&quot;,&quot;name&quot;:&quot;D-domain (round binding site, surface)&quot;,&quot;displayName&quot;:&quot;&quot;,&quot;type&quot;:&quot;FIGURE_OBJECT&quot;,&quot;relativeTransform&quot;:{&quot;translate&quot;:{&quot;x&quot;:31.271544126913597,&quot;y&quot;:47.04793386526772},&quot;rotate&quot;:0,&quot;skewX&quot;:0,&quot;scale&quot;:{&quot;x&quot;:0.20585163388971736,&quot;y&quot;:0.2058516338897177}},&quot;image&quot;:{&quot;url&quot;:&quot;https://icons.cdn.biorender.com/biorender/63dd295652f9f70020b4cd61/20230203153607/image/63dd295652f9f70020b4cd61.png&quot;,&quot;isPremium&quot;:false,&quot;isOrgIcon&quot;:false,&quot;size&quot;:{&quot;x&quot;:100,&quot;y&quot;:150}},&quot;source&quot;:{&quot;id&quot;:&quot;63dd295652f9f70020b4cd61&quot;,&quot;version&quot;:&quot;20230203153607&quot;,&quot;type&quot;:&quot;ASSETS&quot;},&quot;isPremium&quot;:false,&quot;parent&quot;:{&quot;type&quot;:&quot;CHILD&quot;,&quot;parentId&quot;:&quot;b5f6e286-6b83-438e-aeb6-6ed23306d230&quot;,&quot;order&quot;:&quot;999999999999999995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77e45a7e-3a70-4b91-bbf6-479fb1105968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77e45a7e-3a70-4b91-bbf6-479fb1105968&quot;:{&quot;id&quot;:&quot;77e45a7e-3a70-4b91-bbf6-479fb1105968&quot;,&quot;name&quot;:&quot;Sphere&quot;,&quot;type&quot;:&quot;FIGURE_OBJECT&quot;,&quot;relativeTransform&quot;:{&quot;translate&quot;:{&quot;x&quot;:42.972311017938246,&quot;y&quot;:95.12904954657326},&quot;rotate&quot;:0,&quot;skewX&quot;:0,&quot;scale&quot;:{&quot;x&quot;:0.26965212187328164,&quot;y&quot;:0.26965212187328164}},&quot;image&quot;:{&quot;url&quot;:&quot;https://icons.cdn.biorender.com/biorender/5b8847989629ce1400901caa/20240913182354/image/5b8847989629ce1400901caa.png&quot;,&quot;fallbackUrl&quot;:&quot;sources/icons/5b8847989629ce1400901caa/20240913182354/image/5b8847989629ce1400901caa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5f6e286-6b83-438e-aeb6-6ed23306d230&quot;,&quot;order&quot;:&quot;999999999999999998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74b29b59-1b9a-4347-8aae-c499253b341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74b29b59-1b9a-4347-8aae-c499253b3413&quot;:{&quot;id&quot;:&quot;74b29b59-1b9a-4347-8aae-c499253b3413&quot;,&quot;name&quot;:&quot;Sphere&quot;,&quot;type&quot;:&quot;FIGURE_OBJECT&quot;,&quot;relativeTransform&quot;:{&quot;translate&quot;:{&quot;x&quot;:20.92772724921651,&quot;y&quot;:69.2282909258836},&quot;rotate&quot;:0,&quot;skewX&quot;:0,&quot;scale&quot;:{&quot;x&quot;:0.26965212187328164,&quot;y&quot;:0.26965212187328164}},&quot;image&quot;:{&quot;url&quot;:&quot;https://icons.cdn.biorender.com/biorender/5b8847989629ce1400901caa/20240913182354/image/5b8847989629ce1400901caa.png&quot;,&quot;fallbackUrl&quot;:&quot;sources/icons/5b8847989629ce1400901caa/20240913182354/image/5b8847989629ce1400901caa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5f6e286-6b83-438e-aeb6-6ed23306d230&quot;,&quot;order&quot;:&quot;9999999999999999995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d0d9ff67-e0b0-4359-bbcf-d3375223103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d0d9ff67-e0b0-4359-bbcf-d33752231033&quot;:{&quot;type&quot;:&quot;FIGURE_OBJECT&quot;,&quot;id&quot;:&quot;d0d9ff67-e0b0-4359-bbcf-d33752231033&quot;,&quot;parent&quot;:{&quot;type&quot;:&quot;CHILD&quot;,&quot;parentId&quot;:&quot;b5f6e286-6b83-438e-aeb6-6ed23306d230&quot;,&quot;order&quot;:&quot;9999999999999999998&quot;},&quot;relativeTransform&quot;:{&quot;translate&quot;:{&quot;x&quot;:-13.620862455401095,&quot;y&quot;:-87.94370407569332},&quot;rotate&quot;:0,&quot;skewX&quot;:0,&quot;scale&quot;:{&quot;x&quot;:1,&quot;y&quot;:1}},&quot;isLocked&quot;:false},&quot;dd9515f9-db04-49d3-8305-9663bcab4cad&quot;:{&quot;id&quot;:&quot;dd9515f9-db04-49d3-8305-9663bcab4cad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d0d9ff67-e0b0-4359-bbcf-d33752231033&quot;,&quot;order&quot;:&quot;2&quot;}},&quot;5711ca68-94b7-46d3-9d69-87919506447c&quot;:{&quot;id&quot;:&quot;5711ca68-94b7-46d3-9d69-87919506447c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d0d9ff67-e0b0-4359-bbcf-d33752231033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1afa84d2-59e5-468f-8470-0867ab75602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1afa84d2-59e5-468f-8470-0867ab756027&quot;:{&quot;type&quot;:&quot;FIGURE_OBJECT&quot;,&quot;id&quot;:&quot;1afa84d2-59e5-468f-8470-0867ab756027&quot;,&quot;relativeTransform&quot;:{&quot;translate&quot;:{&quot;x&quot;:0,&quot;y&quot;:-46.40718562874255},&quot;rotate&quot;:0,&quot;skewX&quot;:0,&quot;scale&quot;:{&quot;x&quot;:1,&quot;y&quot;:1}},&quot;opacity&quot;:1,&quot;path&quot;:{&quot;type&quot;:&quot;POLY_LINE&quot;,&quot;points&quot;:[{&quot;x&quot;:-70.057199488491,&quot;y&quot;:288.5182726275008},{&quot;x&quot;:12.42133404994371,&quot;y&quot;:139.9585510686561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999999995&quot;},&quot;connectorInfo&quot;:{&quot;type&quot;:&quot;LINE&quot;,&quot;offset&quot;:{&quot;x&quot;:0,&quot;y&quot;:0},&quot;bending&quot;:0.1,&quot;customized&quot;:false,&quot;connectedObjectAtLineStart&quot;:{&quot;objectId&quot;:&quot;31e00243-7255-46db-b277-1f3310547af5&quot;,&quot;coordinates&quot;:{&quot;x&quot;:0.7987461747908088,&quot;y&quot;:0}}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dae4e4b4-a7c4-43b0-a7c2-6b4acf42dda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dae4e4b4-a7c4-43b0-a7c2-6b4acf42dda7&quot;:{&quot;id&quot;:&quot;dae4e4b4-a7c4-43b0-a7c2-6b4acf42dda7&quot;,&quot;name&quot;:&quot;Na/Ca exchanger (closed, schematic)&quot;,&quot;displayName&quot;:&quot;&quot;,&quot;type&quot;:&quot;FIGURE_OBJECT&quot;,&quot;relativeTransform&quot;:{&quot;translate&quot;:{&quot;x&quot;:84.6027561828558,&quot;y&quot;:217.1324163287216},&quot;rotate&quot;:-0.3747214541176319,&quot;skewX&quot;:0,&quot;scale&quot;:{&quot;x&quot;:0.9424199677072691,&quot;y&quot;:0.6034885873293713}},&quot;image&quot;:{&quot;url&quot;:&quot;https://icons.cdn.biorender.com/biorender/5ee783206ccd7c0028979217/20200615142221/image/5ee783206ccd7c0028979217.png&quot;,&quot;isPremium&quot;:false,&quot;isOrgIcon&quot;:false,&quot;size&quot;:{&quot;x&quot;:50,&quot;y&quot;:80.97826086956522}},&quot;source&quot;:{&quot;id&quot;:&quot;5ee783206ccd7c0028979217&quot;,&quot;version&quot;:&quot;20200615142221&quot;,&quot;type&quot;:&quot;ASSETS&quot;},&quot;isPremium&quot;:false,&quot;parent&quot;:{&quot;type&quot;:&quot;CHILD&quot;,&quot;parentId&quot;:&quot;b5f6e286-6b83-438e-aeb6-6ed23306d230&quot;,&quot;order&quot;:&quot;99999999999999999997&quot;},&quot;isLocked&quot;:false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c047bfd7-fd67-4345-95f1-12d4debfe79d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c047bfd7-fd67-4345-95f1-12d4debfe79d&quot;:{&quot;type&quot;:&quot;FIGURE_OBJECT&quot;,&quot;id&quot;:&quot;c047bfd7-fd67-4345-95f1-12d4debfe79d&quot;,&quot;relativeTransform&quot;:{&quot;translate&quot;:{&quot;x&quot;:-54.179849252189165,&quot;y&quot;:375.19723131130905},&quot;rotate&quot;:-0.39643318058741217,&quot;skewX&quot;:0,&quot;scale&quot;:{&quot;x&quot;:0.9999999999999999,&quot;y&quot;:1.0000000000000009}},&quot;opacity&quot;:1,&quot;path&quot;:{&quot;type&quot;:&quot;POLY_LINE&quot;,&quot;points&quot;:[{&quot;x&quot;:196.22182453220012,&quot;y&quot;:-154.9345702814022},{&quot;x&quot;:192.0502194324743,&quot;y&quot;:-144.96884250938868},{&quot;x&quot;:190.48696356217263,&quot;y&quot;:-125.82711450877015},{&quot;x&quot;:188.98187580177688,&quot;y&quot;:-84.3308382540448},{&quot;x&quot;:191.74086471533,&quot;y&quot;:-29.9626643317519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577376610690393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999999998&quot;},&quot;connectorInfo&quot;:{&quot;type&quot;:&quot;QUADRATIC&quot;,&quot;offset&quot;:{&quot;x&quot;:0,&quot;y&quot;:0},&quot;bending&quot;:-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0037a73c-ac07-47b0-8182-49cb89ae3eb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0037a73c-ac07-47b0-8182-49cb89ae3eb5&quot;:{&quot;type&quot;:&quot;FIGURE_OBJECT&quot;,&quot;id&quot;:&quot;0037a73c-ac07-47b0-8182-49cb89ae3eb5&quot;,&quot;parent&quot;:{&quot;type&quot;:&quot;CHILD&quot;,&quot;parentId&quot;:&quot;b5f6e286-6b83-438e-aeb6-6ed23306d230&quot;,&quot;order&quot;:&quot;9999999999999999999998&quot;},&quot;relativeTransform&quot;:{&quot;translate&quot;:{&quot;x&quot;:-106.20153272525101,&quot;y&quot;:38.85246568867403},&quot;rotate&quot;:0,&quot;skewX&quot;:0,&quot;scale&quot;:{&quot;x&quot;:1,&quot;y&quot;:1}},&quot;isLocked&quot;:false},&quot;2b02dfa6-14a7-45b5-a460-57a023ba7737&quot;:{&quot;id&quot;:&quot;2b02dfa6-14a7-45b5-a460-57a023ba7737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0037a73c-ac07-47b0-8182-49cb89ae3eb5&quot;,&quot;order&quot;:&quot;2&quot;}},&quot;4625f807-285e-4228-a10c-8b615285a46c&quot;:{&quot;id&quot;:&quot;4625f807-285e-4228-a10c-8b615285a46c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0037a73c-ac07-47b0-8182-49cb89ae3eb5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4e46a18-9ee3-49a1-8a57-9a8f8c01ac4d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4e46a18-9ee3-49a1-8a57-9a8f8c01ac4d&quot;:{&quot;type&quot;:&quot;FIGURE_OBJECT&quot;,&quot;id&quot;:&quot;b4e46a18-9ee3-49a1-8a57-9a8f8c01ac4d&quot;,&quot;parent&quot;:{&quot;type&quot;:&quot;CHILD&quot;,&quot;parentId&quot;:&quot;b5f6e286-6b83-438e-aeb6-6ed23306d230&quot;,&quot;order&quot;:&quot;9999999999999999999999&quot;},&quot;relativeTransform&quot;:{&quot;translate&quot;:{&quot;x&quot;:6.379137544598905,&quot;y&quot;:-67.94370407569332},&quot;rotate&quot;:0,&quot;skewX&quot;:0,&quot;scale&quot;:{&quot;x&quot;:1,&quot;y&quot;:1}},&quot;isLocked&quot;:false},&quot;d79674a9-f7a2-4223-93ab-7f9426412886&quot;:{&quot;id&quot;:&quot;d79674a9-f7a2-4223-93ab-7f9426412886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b4e46a18-9ee3-49a1-8a57-9a8f8c01ac4d&quot;,&quot;order&quot;:&quot;2&quot;}},&quot;ace1bee5-de1f-4d71-963a-e15b6374d5eb&quot;:{&quot;id&quot;:&quot;ace1bee5-de1f-4d71-963a-e15b6374d5eb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b4e46a18-9ee3-49a1-8a57-9a8f8c01ac4d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0b56d728-b99f-4b11-8987-b1878bfb1f93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0b56d728-b99f-4b11-8987-b1878bfb1f93&quot;:{&quot;type&quot;:&quot;FIGURE_OBJECT&quot;,&quot;id&quot;:&quot;0b56d728-b99f-4b11-8987-b1878bfb1f93&quot;,&quot;parent&quot;:{&quot;type&quot;:&quot;CHILD&quot;,&quot;parentId&quot;:&quot;b5f6e286-6b83-438e-aeb6-6ed23306d230&quot;,&quot;order&quot;:&quot;99999999999999999999995&quot;},&quot;relativeTransform&quot;:{&quot;translate&quot;:{&quot;x&quot;:-13.621479221868157,&quot;y&quot;:-113.91993760862745},&quot;rotate&quot;:0,&quot;skewX&quot;:0,&quot;scale&quot;:{&quot;x&quot;:1,&quot;y&quot;:1}},&quot;isLocked&quot;:false},&quot;8d8a508c-4c3a-4233-bdb0-cefbd6e70d1c&quot;:{&quot;id&quot;:&quot;8d8a508c-4c3a-4233-bdb0-cefbd6e70d1c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0b56d728-b99f-4b11-8987-b1878bfb1f93&quot;,&quot;order&quot;:&quot;2&quot;}},&quot;f6870252-4d1a-4491-b8d0-2adcbf917bfd&quot;:{&quot;id&quot;:&quot;f6870252-4d1a-4491-b8d0-2adcbf917bfd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0b56d728-b99f-4b11-8987-b1878bfb1f93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2e3a09b6-04f9-4301-83fe-25ae370b2141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2e3a09b6-04f9-4301-83fe-25ae370b2141&quot;:{&quot;type&quot;:&quot;FIGURE_OBJECT&quot;,&quot;id&quot;:&quot;2e3a09b6-04f9-4301-83fe-25ae370b2141&quot;,&quot;parent&quot;:{&quot;type&quot;:&quot;CHILD&quot;,&quot;parentId&quot;:&quot;b5f6e286-6b83-438e-aeb6-6ed23306d230&quot;,&quot;order&quot;:&quot;99999999999999999999997&quot;},&quot;relativeTransform&quot;:{&quot;translate&quot;:{&quot;x&quot;:-52.354881352671605,&quot;y&quot;:8.65397148228162},&quot;rotate&quot;:0,&quot;skewX&quot;:0,&quot;scale&quot;:{&quot;x&quot;:1,&quot;y&quot;:1}},&quot;isLocked&quot;:false},&quot;333dd996-515c-46c5-9bfa-7f49c9781169&quot;:{&quot;id&quot;:&quot;333dd996-515c-46c5-9bfa-7f49c9781169&quot;,&quot;name&quot;:&quot;Sphere&quot;,&quot;type&quot;:&quot;FIGURE_OBJECT&quot;,&quot;relativeTransform&quot;:{&quot;translate&quot;:{&quot;x&quot;:90.37948882243657,&quot;y&quot;:147.02495129846258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2e3a09b6-04f9-4301-83fe-25ae370b2141&quot;,&quot;order&quot;:&quot;2&quot;}},&quot;e0cab322-6245-4447-80b4-fdd8cc8c50a4&quot;:{&quot;id&quot;:&quot;e0cab322-6245-4447-80b4-fdd8cc8c50a4&quot;,&quot;type&quot;:&quot;FIGURE_OBJECT&quot;,&quot;relativeTransform&quot;:{&quot;translate&quot;:{&quot;x&quot;:90.37946953213479,&quot;y&quot;:147.12867306008707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2e3a09b6-04f9-4301-83fe-25ae370b2141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fd94b50c-8574-4a5c-afa1-064448eeb83f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fd94b50c-8574-4a5c-afa1-064448eeb83f&quot;:{&quot;type&quot;:&quot;FIGURE_OBJECT&quot;,&quot;id&quot;:&quot;fd94b50c-8574-4a5c-afa1-064448eeb83f&quot;,&quot;parent&quot;:{&quot;type&quot;:&quot;CHILD&quot;,&quot;parentId&quot;:&quot;b5f6e286-6b83-438e-aeb6-6ed23306d230&quot;,&quot;order&quot;:&quot;99999999999999999999998&quot;},&quot;relativeTransform&quot;:{&quot;translate&quot;:{&quot;x&quot;:150.17156217785728,&quot;y&quot;:38.81576038611823},&quot;rotate&quot;:0,&quot;skewX&quot;:0,&quot;scale&quot;:{&quot;x&quot;:1,&quot;y&quot;:1}},&quot;isLocked&quot;:false},&quot;5717394a-b144-40a2-9d49-9cba0ecd579b&quot;:{&quot;id&quot;:&quot;5717394a-b144-40a2-9d49-9cba0ecd579b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fd94b50c-8574-4a5c-afa1-064448eeb83f&quot;,&quot;order&quot;:&quot;2&quot;}},&quot;247f8a73-42f3-4ef1-9c5d-7c6e37fa0000&quot;:{&quot;id&quot;:&quot;247f8a73-42f3-4ef1-9c5d-7c6e37fa0000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fd94b50c-8574-4a5c-afa1-064448eeb83f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a1f51633-d422-4afe-b33a-6912338b15a6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a1f51633-d422-4afe-b33a-6912338b15a6&quot;:{&quot;type&quot;:&quot;FIGURE_OBJECT&quot;,&quot;id&quot;:&quot;a1f51633-d422-4afe-b33a-6912338b15a6&quot;,&quot;parent&quot;:{&quot;type&quot;:&quot;CHILD&quot;,&quot;parentId&quot;:&quot;b5f6e286-6b83-438e-aeb6-6ed23306d230&quot;,&quot;order&quot;:&quot;99999999999999999999999&quot;},&quot;relativeTransform&quot;:{&quot;translate&quot;:{&quot;x&quot;:62.048166968276576,&quot;y&quot;:78.70037715258528},&quot;rotate&quot;:0,&quot;skewX&quot;:0,&quot;scale&quot;:{&quot;x&quot;:1,&quot;y&quot;:1}},&quot;isLocked&quot;:false},&quot;136e5d3d-1b7b-4ed4-bac5-a97b65d976c0&quot;:{&quot;id&quot;:&quot;136e5d3d-1b7b-4ed4-bac5-a97b65d976c0&quot;,&quot;name&quot;:&quot;Sphere&quot;,&quot;type&quot;:&quot;FIGURE_OBJECT&quot;,&quot;relativeTransform&quot;:{&quot;translate&quot;:{&quot;x&quot;:83.29109471322082,&quot;y&quot;:168.74147459397489},&quot;rotate&quot;:0,&quot;skewX&quot;:0,&quot;scale&quot;:{&quot;x&quot;:0.26965212187328164,&quot;y&quot;:0.26965212187328164}},&quot;image&quot;:{&quot;url&quot;:&quot;https://icons.biorender.com/biorender/5f4529c2929bce0028c9f87c/sphere.png&quot;,&quot;fallbackUrl&quot;:&quot;https://res.cloudinary.com/dlcjuc3ej/image/upload/v1598368171/hn8prk1mpbi6hpkigwlz.svg#/keystone/api/icons/5f4529c2929bce0028c9f87c/sphere.svg&quot;,&quot;isPremium&quot;:false,&quot;isPacked&quot;:true,&quot;size&quot;:{&quot;x&quot;:50,&quot;y&quot;:50}},&quot;source&quot;:{&quot;id&quot;:&quot;5b8847989629ce1400901caa&quot;,&quot;type&quot;:&quot;ASSETS&quot;},&quot;parent&quot;:{&quot;type&quot;:&quot;CHILD&quot;,&quot;parentId&quot;:&quot;a1f51633-d422-4afe-b33a-6912338b15a6&quot;,&quot;order&quot;:&quot;2&quot;}},&quot;3bcb91ac-77d3-4633-a2b6-687f5be12e4a&quot;:{&quot;id&quot;:&quot;3bcb91ac-77d3-4633-a2b6-687f5be12e4a&quot;,&quot;type&quot;:&quot;FIGURE_OBJECT&quot;,&quot;relativeTransform&quot;:{&quot;translate&quot;:{&quot;x&quot;:83.29107542291904,&quot;y&quot;:169.11546662586963},&quot;rotate&quot;:0,&quot;skewX&quot;:0,&quot;scale&quot;:{&quot;x&quot;:1,&quot;y&quot;:1}},&quot;text&quot;:{&quot;textData&quot;:{&quot;lineSpacing&quot;:&quot;normal&quot;,&quot;alignment&quot;:&quot;left&quot;,&quot;lines&quot;:[{&quot;runs&quot;:[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,&quot;range&quot;:[0,1]},{&quot;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super&quot;},&quot;range&quot;:[2,3]}],&quot;text&quot;:&quot;Ca2+&quot;,&quot;baseStyle&quot;:{&quot;fontFamily&quot;:&quot;Roboto&quot;,&quot;fontSize&quot;:5.033506274967923,&quot;color&quot;:&quot;rgba(255,255,255,1)&quot;,&quot;fontWeight&quot;:&quot;normal&quot;,&quot;fontStyle&quot;:&quot;normal&quot;,&quot;decoration&quot;:&quot;none&quot;,&quot;script&quot;:&quot;none&quot;}}],&quot;verticalAlign&quot;:&quot;TOP&quot;},&quot;format&quot;:&quot;BETTER_TEXT&quot;,&quot;size&quot;:{&quot;x&quot;:9.60340012987301,&quot;y&quot;:6},&quot;targetSize&quot;:{&quot;x&quot;:9.60340012987301,&quot;y&quot;:4.96727592924465},&quot;verticalAlign&quot;:&quot;TOP&quot;},&quot;parent&quot;:{&quot;type&quot;:&quot;CHILD&quot;,&quot;parentId&quot;:&quot;a1f51633-d422-4afe-b33a-6912338b15a6&quot;,&quot;order&quot;:&quot;5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0c772143-8695-4838-981b-d995ce7b6307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0c772143-8695-4838-981b-d995ce7b6307&quot;:{&quot;relativeTransform&quot;:{&quot;translate&quot;:{&quot;x&quot;:-115.78293909179635,&quot;y&quot;:35.13138662817626},&quot;rotate&quot;:0.3956001512430912,&quot;skewX&quot;:0,&quot;scale&quot;:{&quot;x&quot;:1,&quot;y&quot;:1}},&quot;type&quot;:&quot;FIGURE_OBJECT&quot;,&quot;id&quot;:&quot;0c772143-8695-4838-981b-d995ce7b6307&quot;,&quot;name&quot;:&quot;EpoR (dimer, active, schematic)&quot;,&quot;displayName&quot;:&quot;EpoR (dimer, active, schematic)&quot;,&quot;opacity&quot;:1,&quot;source&quot;:{&quot;id&quot;:&quot;5e626fc895014100889e5ef6&quot;,&quot;type&quot;:&quot;ASSETS&quot;},&quot;pathStyles&quot;:[{&quot;type&quot;:&quot;FILL&quot;,&quot;fillStyle&quot;:&quot;rgb(0,0,0)&quot;}],&quot;isLocked&quot;:false,&quot;parent&quot;:{&quot;type&quot;:&quot;CHILD&quot;,&quot;parentId&quot;:&quot;b5f6e286-6b83-438e-aeb6-6ed23306d230&quot;,&quot;order&quot;:&quot;999999999999999999999995&quot;},&quot;isPremium&quot;:true},&quot;35692610-a7eb-4af4-bf0a-3cb1a12194bd&quot;:{&quot;type&quot;:&quot;FIGURE_OBJECT&quot;,&quot;id&quot;:&quot;35692610-a7eb-4af4-bf0a-3cb1a12194bd&quot;,&quot;relativeTransform&quot;:{&quot;translate&quot;:{&quot;x&quot;:-5.966568683252354,&quot;y&quot;:-1.7394354553495186e-14},&quot;rotate&quot;:0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c772143-8695-4838-981b-d995ce7b6307&quot;,&quot;order&quot;:&quot;2&quot;}},&quot;a1462db6-d3d0-496d-9bc2-28f042db8534&quot;:{&quot;type&quot;:&quot;FIGURE_OBJECT&quot;,&quot;id&quot;:&quot;a1462db6-d3d0-496d-9bc2-28f042db8534&quot;,&quot;relativeTransform&quot;:{&quot;translate&quot;:{&quot;x&quot;:1.0028456641390324,&quot;y&quot;:-0.009878367068626664},&quot;rotate&quot;:0},&quot;opacity&quot;:1,&quot;path&quot;:{&quot;type&quot;:&quot;POLY_LINE&quot;,&quot;points&quot;:[{&quot;x&quot;:2.9447624279296676,&quot;y&quot;:19.51194353590865},{&quot;x&quot;:2.9835460339193136,&quot;y&quot;:-13.85914127929315},{&quot;x&quot;:-2.9835460339193136,&quot;y&quot;:-19.51194353590865}],&quot;closed&quot;:false,&quot;cornerRounding&quot;:{&quot;type&quot;:&quot;ARC_LENGTH&quot;,&quot;global&quot;:1.386424128873315}},&quot;pathStyles&quot;:[{&quot;type&quot;:&quot;FILL&quot;,&quot;fillStyle&quot;:&quot;rgba(0,0,0,0)&quot;},{&quot;type&quot;:&quot;STROKE&quot;,&quot;strokeStyle&quot;:&quot;rgba(107, 21, 25, 1)&quot;,&quot;lineWidth&quot;:0.9180141642828658,&quot;lineJoin&quot;:&quot;round&quot;}],&quot;pathMarkers&quot;:{&quot;markerStart&quot;:{&quot;type&quot;:&quot;PATH&quot;,&quot;units&quot;:{&quot;type&quot;:&quot;STROKE_WIDTH&quot;,&quot;scale&quot;:0.3},&quot;orient&quot;:{&quot;type&quot;:&quot;AUTO_START_REVERSE&quot;},&quot;name&quot;:&quot;dot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1.7,&quot;y&quot;:0,&quot;isEndPoint&quot;:true},{&quot;x&quot;:-1.6999999999999997,&quot;y&quot;:0.9388840747123488,&quot;isEndPoint&quot;:false},{&quot;x&quot;:-0.9388840747123485,&quot;y&quot;:1.7,&quot;isEndPoint&quot;:false},{&quot;x&quot;:1.0409497792752501e-16,&quot;y&quot;:1.7,&quot;isEndPoint&quot;:true},{&quot;x&quot;:0.9388840747123488,&quot;y&quot;:1.7,&quot;isEndPoint&quot;:false},{&quot;x&quot;:1.7,&quot;y&quot;:0.9388840747123487,&quot;isEndPoint&quot;:false},{&quot;x&quot;:1.7,&quot;y&quot;:0,&quot;isEndPoint&quot;:true},{&quot;x&quot;:1.7,&quot;y&quot;:-0.9388840747123487,&quot;isEndPoint&quot;:false},{&quot;x&quot;:0.9388840747123488,&quot;y&quot;:-1.7,&quot;isEndPoint&quot;:false},{&quot;x&quot;:1.0409497792752501e-16,&quot;y&quot;:-1.7,&quot;isEndPoint&quot;:true},{&quot;x&quot;:-0.9388840747123485,&quot;y&quot;:-1.7,&quot;isEndPoint&quot;:false},{&quot;x&quot;:-1.6999999999999997,&quot;y&quot;:-0.9388840747123488,&quot;isEndPoint&quot;:false},{&quot;x&quot;:-1.7,&quot;y&quot;:-2.0818995585505003e-16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0.3},&quot;orient&quot;:{&quot;type&quot;:&quot;AUTO_START_REVERSE&quot;},&quot;name&quot;:&quot;dot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1.7,&quot;y&quot;:0,&quot;isEndPoint&quot;:true},{&quot;x&quot;:-1.6999999999999997,&quot;y&quot;:0.9388840747123488,&quot;isEndPoint&quot;:false},{&quot;x&quot;:-0.9388840747123485,&quot;y&quot;:1.7,&quot;isEndPoint&quot;:false},{&quot;x&quot;:1.0409497792752501e-16,&quot;y&quot;:1.7,&quot;isEndPoint&quot;:true},{&quot;x&quot;:0.9388840747123488,&quot;y&quot;:1.7,&quot;isEndPoint&quot;:false},{&quot;x&quot;:1.7,&quot;y&quot;:0.9388840747123487,&quot;isEndPoint&quot;:false},{&quot;x&quot;:1.7,&quot;y&quot;:0,&quot;isEndPoint&quot;:true},{&quot;x&quot;:1.7,&quot;y&quot;:-0.9388840747123487,&quot;isEndPoint&quot;:false},{&quot;x&quot;:0.9388840747123488,&quot;y&quot;:-1.7,&quot;isEndPoint&quot;:false},{&quot;x&quot;:1.0409497792752501e-16,&quot;y&quot;:-1.7,&quot;isEndPoint&quot;:true},{&quot;x&quot;:-0.9388840747123485,&quot;y&quot;:-1.7,&quot;isEndPoint&quot;:false},{&quot;x&quot;:-1.6999999999999997,&quot;y&quot;:-0.9388840747123488,&quot;isEndPoint&quot;:false},{&quot;x&quot;:-1.7,&quot;y&quot;:-2.0818995585505003e-16,&quot;isEndPoint&quot;:true}],&quot;closed&quot;:false}},&quot;pathStyles&quot;:[{&quot;type&quot;:&quot;FILL&quot;,&quot;fillStyle&quot;:&quot;context-stroke-flat&quot;}]}},&quot;isLocked&quot;:false,&quot;parent&quot;:{&quot;type&quot;:&quot;CHILD&quot;,&quot;parentId&quot;:&quot;35692610-a7eb-4af4-bf0a-3cb1a12194bd&quot;,&quot;order&quot;:&quot;1&quot;}},&quot;dc1b8989-a3f4-4f3f-8215-647c193e003c&quot;:{&quot;type&quot;:&quot;FIGURE_OBJECT&quot;,&quot;id&quot;:&quot;dc1b8989-a3f4-4f3f-8215-647c193e003c&quot;,&quot;name&quot;:&quot;EpoR intracellular domain&quot;,&quot;relativeTransform&quot;:{&quot;translate&quot;:{&quot;x&quot;:3.875165285635865,&quot;y&quot;:17.13963011987978},&quot;rotate&quot;:0,&quot;skewX&quot;:0,&quot;scale&quot;:{&quot;x&quot;:0.0347732637985934,&quot;y&quot;:0.0347732637985934}},&quot;opacity&quot;:1,&quot;image&quot;:{&quot;url&quot;:&quot;https://icons.biorender.com/biorender/5e626e53356b4100287b8e35/20200306153910/image/epor-intracellular-domain.png&quot;,&quot;fallbackUrl&quot;:&quot;https://res.cloudinary.com/dlcjuc3ej/image/upload/v1583509150/ls74qxjfwlruxhjpw6uc.svg#/keystone/api/icons/5e626e53356b4100287b8e35/20200306153910/image/epor-intracellular-domain.svg&quot;,&quot;size&quot;:{&quot;x&quot;:110,&quot;y&quot;:375},&quot;isPremium&quot;:false},&quot;source&quot;:{&quot;id&quot;:&quot;5e626e53356b4100287b8e35&quot;,&quot;type&quot;:&quot;ASSETS&quot;},&quot;pathStyles&quot;:[{&quot;type&quot;:&quot;FILL&quot;,&quot;fillStyle&quot;:&quot;rgb(0,0,0)&quot;}],&quot;isLocked&quot;:false,&quot;parent&quot;:{&quot;type&quot;:&quot;CHILD&quot;,&quot;parentId&quot;:&quot;35692610-a7eb-4af4-bf0a-3cb1a12194bd&quot;,&quot;order&quot;:&quot;2&quot;}},&quot;1f0825da-b8a8-46b3-9aee-1079e7ffddce&quot;:{&quot;type&quot;:&quot;FIGURE_OBJECT&quot;,&quot;id&quot;:&quot;1f0825da-b8a8-46b3-9aee-1079e7ffddce&quot;,&quot;name&quot;:&quot;EpoR D1 or D2 domain&quot;,&quot;relativeTransform&quot;:{&quot;translate&quot;:{&quot;x&quot;:3.9871500537785725,&quot;y&quot;:-2.208213857657628},&quot;rotate&quot;:0,&quot;skewX&quot;:-3.316125578789226e-17,&quot;scale&quot;:{&quot;x&quot;:0.03477326379859339,&quot;y&quot;:0.03477326379859337}},&quot;opacity&quot;:1,&quot;image&quot;:{&quot;url&quot;:&quot;https://icons.biorender.com/biorender/5e626dcb356b4100287b8e10/20200306153657/image/epor-d1-d2.png&quot;,&quot;fallbackUrl&quot;:&quot;https://res.cloudinary.com/dlcjuc3ej/image/upload/v1583509017/lunvejpix9hjwhans5mn.svg#/keystone/api/icons/5e626dcb356b4100287b8e10/20200306153657/image/epor-d1-d2.svg&quot;,&quot;size&quot;:{&quot;x&quot;:110,&quot;y&quot;:327},&quot;isPremium&quot;:false},&quot;source&quot;:{&quot;id&quot;:&quot;5e626dcb356b4100287b8e10&quot;,&quot;type&quot;:&quot;ASSETS&quot;},&quot;pathStyles&quot;:[{&quot;type&quot;:&quot;FILL&quot;,&quot;fillStyle&quot;:&quot;rgb(0,0,0)&quot;}],&quot;isLocked&quot;:false,&quot;parent&quot;:{&quot;type&quot;:&quot;CHILD&quot;,&quot;parentId&quot;:&quot;35692610-a7eb-4af4-bf0a-3cb1a12194bd&quot;,&quot;order&quot;:&quot;5&quot;}},&quot;c0a23816-c235-4319-80b8-00472ed1190c&quot;:{&quot;type&quot;:&quot;FIGURE_OBJECT&quot;,&quot;id&quot;:&quot;c0a23816-c235-4319-80b8-00472ed1190c&quot;,&quot;name&quot;:&quot;EpoR D1 or D2 domain&quot;,&quot;relativeTransform&quot;:{&quot;translate&quot;:{&quot;x&quot;:-0.5271118387408602,&quot;y&quot;:-18.287049358155674},&quot;rotate&quot;:2.356194490192345,&quot;skewX&quot;:8.966425878534316e-17,&quot;scale&quot;:{&quot;x&quot;:-0.03477326379859339,&quot;y&quot;:0.03477326379859338}},&quot;opacity&quot;:1,&quot;image&quot;:{&quot;url&quot;:&quot;https://icons.biorender.com/biorender/5e626dcb356b4100287b8e10/20200306153657/image/epor-d1-d2.png&quot;,&quot;fallbackUrl&quot;:&quot;https://res.cloudinary.com/dlcjuc3ej/image/upload/v1583509017/lunvejpix9hjwhans5mn.svg#/keystone/api/icons/5e626dcb356b4100287b8e10/20200306153657/image/epor-d1-d2.svg&quot;,&quot;size&quot;:{&quot;x&quot;:110,&quot;y&quot;:327},&quot;isPremium&quot;:false},&quot;source&quot;:{&quot;id&quot;:&quot;5e626dcb356b4100287b8e10&quot;,&quot;type&quot;:&quot;ASSETS&quot;},&quot;pathStyles&quot;:[{&quot;type&quot;:&quot;FILL&quot;,&quot;fillStyle&quot;:&quot;rgb(0,0,0)&quot;}],&quot;isLocked&quot;:false,&quot;parent&quot;:{&quot;type&quot;:&quot;CHILD&quot;,&quot;parentId&quot;:&quot;35692610-a7eb-4af4-bf0a-3cb1a12194bd&quot;,&quot;order&quot;:&quot;7&quot;}},&quot;08ef76be-d9b5-4586-9428-ea14850543df&quot;:{&quot;type&quot;:&quot;FIGURE_OBJECT&quot;,&quot;id&quot;:&quot;08ef76be-d9b5-4586-9428-ea14850543df&quot;,&quot;relativeTransform&quot;:{&quot;translate&quot;:{&quot;x&quot;:5.9665686832523495,&quot;y&quot;:1.7394354553495186e-14},&quot;rotate&quot;:-2.449293598294706e-16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c772143-8695-4838-981b-d995ce7b6307&quot;,&quot;order&quot;:&quot;5&quot;}},&quot;9b8af49c-16af-4a92-92bb-57cc661f3e3c&quot;:{&quot;type&quot;:&quot;FIGURE_OBJECT&quot;,&quot;id&quot;:&quot;9b8af49c-16af-4a92-92bb-57cc661f3e3c&quot;,&quot;relativeTransform&quot;:{&quot;translate&quot;:{&quot;x&quot;:-1.0028456641390324,&quot;y&quot;:-0.009878367068626664},&quot;rotate&quot;:-2.449293598294706e-16},&quot;opacity&quot;:1,&quot;path&quot;:{&quot;type&quot;:&quot;POLY_LINE&quot;,&quot;points&quot;:[{&quot;x&quot;:-2.9447624279296676,&quot;y&quot;:19.51194353590865},{&quot;x&quot;:-2.9835460339193136,&quot;y&quot;:-13.85914127929315},{&quot;x&quot;:2.9835460339193136,&quot;y&quot;:-19.51194353590865}],&quot;closed&quot;:false,&quot;cornerRounding&quot;:{&quot;type&quot;:&quot;ARC_LENGTH&quot;,&quot;global&quot;:1.386424128873315}},&quot;pathStyles&quot;:[{&quot;type&quot;:&quot;FILL&quot;,&quot;fillStyle&quot;:&quot;rgba(0,0,0,0)&quot;},{&quot;type&quot;:&quot;STROKE&quot;,&quot;strokeStyle&quot;:&quot;rgba(107, 21, 25, 1)&quot;,&quot;lineWidth&quot;:0.9180141642828658,&quot;lineJoin&quot;:&quot;round&quot;}],&quot;pathMarkers&quot;:{&quot;markerStart&quot;:{&quot;type&quot;:&quot;PATH&quot;,&quot;units&quot;:{&quot;type&quot;:&quot;STROKE_WIDTH&quot;,&quot;scale&quot;:0.3},&quot;orient&quot;:{&quot;type&quot;:&quot;AUTO_START_REVERSE&quot;},&quot;name&quot;:&quot;dot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1.7,&quot;y&quot;:0,&quot;isEndPoint&quot;:true},{&quot;x&quot;:-1.6999999999999997,&quot;y&quot;:0.9388840747123488,&quot;isEndPoint&quot;:false},{&quot;x&quot;:-0.9388840747123485,&quot;y&quot;:1.7,&quot;isEndPoint&quot;:false},{&quot;x&quot;:1.0409497792752501e-16,&quot;y&quot;:1.7,&quot;isEndPoint&quot;:true},{&quot;x&quot;:0.9388840747123488,&quot;y&quot;:1.7,&quot;isEndPoint&quot;:false},{&quot;x&quot;:1.7,&quot;y&quot;:0.9388840747123487,&quot;isEndPoint&quot;:false},{&quot;x&quot;:1.7,&quot;y&quot;:0,&quot;isEndPoint&quot;:true},{&quot;x&quot;:1.7,&quot;y&quot;:-0.9388840747123487,&quot;isEndPoint&quot;:false},{&quot;x&quot;:0.9388840747123488,&quot;y&quot;:-1.7,&quot;isEndPoint&quot;:false},{&quot;x&quot;:1.0409497792752501e-16,&quot;y&quot;:-1.7,&quot;isEndPoint&quot;:true},{&quot;x&quot;:-0.9388840747123485,&quot;y&quot;:-1.7,&quot;isEndPoint&quot;:false},{&quot;x&quot;:-1.6999999999999997,&quot;y&quot;:-0.9388840747123488,&quot;isEndPoint&quot;:false},{&quot;x&quot;:-1.7,&quot;y&quot;:-2.0818995585505003e-16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0.3},&quot;orient&quot;:{&quot;type&quot;:&quot;AUTO_START_REVERSE&quot;},&quot;name&quot;:&quot;dot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1.7,&quot;y&quot;:0,&quot;isEndPoint&quot;:true},{&quot;x&quot;:-1.6999999999999997,&quot;y&quot;:0.9388840747123488,&quot;isEndPoint&quot;:false},{&quot;x&quot;:-0.9388840747123485,&quot;y&quot;:1.7,&quot;isEndPoint&quot;:false},{&quot;x&quot;:1.0409497792752501e-16,&quot;y&quot;:1.7,&quot;isEndPoint&quot;:true},{&quot;x&quot;:0.9388840747123488,&quot;y&quot;:1.7,&quot;isEndPoint&quot;:false},{&quot;x&quot;:1.7,&quot;y&quot;:0.9388840747123487,&quot;isEndPoint&quot;:false},{&quot;x&quot;:1.7,&quot;y&quot;:0,&quot;isEndPoint&quot;:true},{&quot;x&quot;:1.7,&quot;y&quot;:-0.9388840747123487,&quot;isEndPoint&quot;:false},{&quot;x&quot;:0.9388840747123488,&quot;y&quot;:-1.7,&quot;isEndPoint&quot;:false},{&quot;x&quot;:1.0409497792752501e-16,&quot;y&quot;:-1.7,&quot;isEndPoint&quot;:true},{&quot;x&quot;:-0.9388840747123485,&quot;y&quot;:-1.7,&quot;isEndPoint&quot;:false},{&quot;x&quot;:-1.6999999999999997,&quot;y&quot;:-0.9388840747123488,&quot;isEndPoint&quot;:false},{&quot;x&quot;:-1.7,&quot;y&quot;:-2.0818995585505003e-16,&quot;isEndPoint&quot;:true}],&quot;closed&quot;:false}},&quot;pathStyles&quot;:[{&quot;type&quot;:&quot;FILL&quot;,&quot;fillStyle&quot;:&quot;context-stroke-flat&quot;}]}},&quot;isLocked&quot;:false,&quot;parent&quot;:{&quot;type&quot;:&quot;CHILD&quot;,&quot;parentId&quot;:&quot;08ef76be-d9b5-4586-9428-ea14850543df&quot;,&quot;order&quot;:&quot;1&quot;}},&quot;a834b84d-1e8e-48e9-9f09-498f705a6706&quot;:{&quot;type&quot;:&quot;FIGURE_OBJECT&quot;,&quot;id&quot;:&quot;a834b84d-1e8e-48e9-9f09-498f705a6706&quot;,&quot;name&quot;:&quot;EpoR intracellular domain&quot;,&quot;relativeTransform&quot;:{&quot;translate&quot;:{&quot;x&quot;:-3.875165285635865,&quot;y&quot;:17.13963011987978},&quot;rotate&quot;:6.283185307179586,&quot;skewX&quot;:-7.963785967154911e-32,&quot;scale&quot;:{&quot;x&quot;:-0.0347732637985934,&quot;y&quot;:0.0347732637985934}},&quot;opacity&quot;:1,&quot;image&quot;:{&quot;url&quot;:&quot;https://icons.biorender.com/biorender/5e626e53356b4100287b8e35/20200306153910/image/epor-intracellular-domain.png&quot;,&quot;fallbackUrl&quot;:&quot;https://res.cloudinary.com/dlcjuc3ej/image/upload/v1583509150/ls74qxjfwlruxhjpw6uc.svg#/keystone/api/icons/5e626e53356b4100287b8e35/20200306153910/image/epor-intracellular-domain.svg&quot;,&quot;size&quot;:{&quot;x&quot;:110,&quot;y&quot;:375},&quot;isPremium&quot;:false},&quot;source&quot;:{&quot;id&quot;:&quot;5e626e53356b4100287b8e35&quot;,&quot;type&quot;:&quot;ASSETS&quot;},&quot;pathStyles&quot;:[{&quot;type&quot;:&quot;FILL&quot;,&quot;fillStyle&quot;:&quot;rgb(0,0,0)&quot;}],&quot;isLocked&quot;:false,&quot;parent&quot;:{&quot;type&quot;:&quot;CHILD&quot;,&quot;parentId&quot;:&quot;08ef76be-d9b5-4586-9428-ea14850543df&quot;,&quot;order&quot;:&quot;2&quot;}},&quot;5ca87208-a1e8-46f5-9c56-6d9a0afd2bf2&quot;:{&quot;type&quot;:&quot;FIGURE_OBJECT&quot;,&quot;id&quot;:&quot;5ca87208-a1e8-46f5-9c56-6d9a0afd2bf2&quot;,&quot;name&quot;:&quot;EpoR D1 or D2 domain&quot;,&quot;relativeTransform&quot;:{&quot;translate&quot;:{&quot;x&quot;:-3.9871500537785725,&quot;y&quot;:-2.208213857657628},&quot;rotate&quot;:6.283185307179586,&quot;skewX&quot;:-3.3161255787892444e-17,&quot;scale&quot;:{&quot;x&quot;:-0.03477326379859339,&quot;y&quot;:0.03477326379859337}},&quot;opacity&quot;:1,&quot;image&quot;:{&quot;url&quot;:&quot;https://icons.biorender.com/biorender/5e626dcb356b4100287b8e10/20200306153657/image/epor-d1-d2.png&quot;,&quot;fallbackUrl&quot;:&quot;https://res.cloudinary.com/dlcjuc3ej/image/upload/v1583509017/lunvejpix9hjwhans5mn.svg#/keystone/api/icons/5e626dcb356b4100287b8e10/20200306153657/image/epor-d1-d2.svg&quot;,&quot;size&quot;:{&quot;x&quot;:110,&quot;y&quot;:327},&quot;isPremium&quot;:false},&quot;source&quot;:{&quot;id&quot;:&quot;5e626dcb356b4100287b8e10&quot;,&quot;type&quot;:&quot;ASSETS&quot;},&quot;pathStyles&quot;:[{&quot;type&quot;:&quot;FILL&quot;,&quot;fillStyle&quot;:&quot;rgb(0,0,0)&quot;}],&quot;isLocked&quot;:false,&quot;parent&quot;:{&quot;type&quot;:&quot;CHILD&quot;,&quot;parentId&quot;:&quot;08ef76be-d9b5-4586-9428-ea14850543df&quot;,&quot;order&quot;:&quot;5&quot;}},&quot;023a5b76-dafe-4eee-8766-8986520bc8a6&quot;:{&quot;type&quot;:&quot;FIGURE_OBJECT&quot;,&quot;id&quot;:&quot;023a5b76-dafe-4eee-8766-8986520bc8a6&quot;,&quot;name&quot;:&quot;EpoR D1 or D2 domain&quot;,&quot;relativeTransform&quot;:{&quot;translate&quot;:{&quot;x&quot;:0.5271118387408602,&quot;y&quot;:-18.287049358155674},&quot;rotate&quot;:-2.356194490192345,&quot;skewX&quot;:8.966425878534316e-17,&quot;scale&quot;:{&quot;x&quot;:0.03477326379859339,&quot;y&quot;:0.03477326379859338}},&quot;opacity&quot;:1,&quot;image&quot;:{&quot;url&quot;:&quot;https://icons.biorender.com/biorender/5e626dcb356b4100287b8e10/20200306153657/image/epor-d1-d2.png&quot;,&quot;fallbackUrl&quot;:&quot;https://res.cloudinary.com/dlcjuc3ej/image/upload/v1583509017/lunvejpix9hjwhans5mn.svg#/keystone/api/icons/5e626dcb356b4100287b8e10/20200306153657/image/epor-d1-d2.svg&quot;,&quot;size&quot;:{&quot;x&quot;:110,&quot;y&quot;:327},&quot;isPremium&quot;:false},&quot;source&quot;:{&quot;id&quot;:&quot;5e626dcb356b4100287b8e10&quot;,&quot;type&quot;:&quot;ASSETS&quot;},&quot;pathStyles&quot;:[{&quot;type&quot;:&quot;FILL&quot;,&quot;fillStyle&quot;:&quot;rgb(0,0,0)&quot;}],&quot;isLocked&quot;:false,&quot;parent&quot;:{&quot;type&quot;:&quot;CHILD&quot;,&quot;parentId&quot;:&quot;08ef76be-d9b5-4586-9428-ea14850543df&quot;,&quot;order&quot;:&quot;7&quot;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f567f31b-e8cc-49e4-8fa3-eec850efe5a5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5088b4c2-9994-422f-b3c4-ee28f0fba580&quot;:{&quot;relativeTransform&quot;:{&quot;translate&quot;:{&quot;x&quot;:-68.79819354511469,&quot;y&quot;:-84.55280582676079},&quot;rotate&quot;:0,&quot;skewX&quot;:0,&quot;scale&quot;:{&quot;x&quot;:1,&quot;y&quot;:1}},&quot;type&quot;:&quot;FIGURE_OBJECT&quot;,&quot;id&quot;:&quot;5088b4c2-9994-422f-b3c4-ee28f0fba580&quot;,&quot;name&quot;:&quot;Hydrogel (spherical, emulsion)&quot;,&quot;displayName&quot;:&quot;Hydrogel (spherical, emulsion)&quot;,&quot;opacity&quot;:0.46,&quot;source&quot;:{&quot;id&quot;:&quot;5d1e41d1b3261f0033eb9fe0&quot;,&quot;type&quot;:&quot;ASSETS&quot;},&quot;pathStyles&quot;:[{&quot;type&quot;:&quot;FILL&quot;,&quot;fillStyle&quot;:&quot;rgb(0,0,0)&quot;}],&quot;isLocked&quot;:false,&quot;parent&quot;:{&quot;type&quot;:&quot;CHILD&quot;,&quot;parentId&quot;:&quot;f567f31b-e8cc-49e4-8fa3-eec850efe5a5&quot;,&quot;order&quot;:&quot;1&quot;},&quot;isPremium&quot;:true},&quot;b33e8f37-513c-4b85-8610-21b6a9c1383e&quot;:{&quot;type&quot;:&quot;FIGURE_OBJECT&quot;,&quot;id&quot;:&quot;b33e8f37-513c-4b85-8610-21b6a9c1383e&quot;,&quot;name&quot;:&quot;Spherical hydrogel&quot;,&quot;relativeTransform&quot;:{&quot;translate&quot;:{&quot;x&quot;:-0.0807251227397309,&quot;y&quot;:-0.08253917044175091},&quot;rotate&quot;:0,&quot;skewX&quot;:0,&quot;scale&quot;:{&quot;x&quot;:0.09977262361090809,&quot;y&quot;:0.09977262361090809}},&quot;opacity&quot;:1,&quot;image&quot;:{&quot;url&quot;:&quot;https://res.cloudinary.com/dlcjuc3ej/image/upload/v1562263822/n8xhkhq1t5lqlkllbpsh.svg#/keystone/api/icons/5d1e40cd29864104003440f4/20190704181022/image/hydrogel-spherical.svg&quot;,&quot;size&quot;:{&quot;x&quot;:385,&quot;y&quot;:399},&quot;isPremium&quot;:false},&quot;source&quot;:{&quot;id&quot;:&quot;5d1e40cd29864104003440f4&quot;,&quot;type&quot;:&quot;ASSETS&quot;},&quot;pathStyles&quot;:[{&quot;type&quot;:&quot;FILL&quot;,&quot;fillStyle&quot;:&quot;rgb(0,0,0)&quot;}],&quot;isLocked&quot;:false,&quot;parent&quot;:{&quot;type&quot;:&quot;CHILD&quot;,&quot;parentId&quot;:&quot;5088b4c2-9994-422f-b3c4-ee28f0fba580&quot;,&quot;order&quot;:&quot;2&quot;},&quot;styles&quot;:{&quot;editable&quot;:[{&quot;styleName&quot;:&quot;SATURATE&quot;,&quot;index&quot;:0,&quot;value&quot;:0}]}},&quot;69fa9fcc-815b-499a-99cd-56512dde62ee&quot;:{&quot;type&quot;:&quot;FIGURE_OBJECT&quot;,&quot;id&quot;:&quot;69fa9fcc-815b-499a-99cd-56512dde62ee&quot;,&quot;name&quot;:&quot;Spheres (cluster, many)&quot;,&quot;relativeTransform&quot;:{&quot;translate&quot;:{&quot;x&quot;:-0.20317334262584744,&quot;y&quot;:-0.17777667479761874},&quot;rotate&quot;:0,&quot;skewX&quot;:0,&quot;scale&quot;:{&quot;x&quot;:0.05804952646452833,&quot;y&quot;:0.05804952646452832}},&quot;opacity&quot;:1,&quot;image&quot;:{&quot;url&quot;:&quot;https://res.cloudinary.com/dlcjuc3ej/image/upload/v1535658169/ztj7cf8mqjakxtzx1hdb.svg#/keystone/api/icons/5b8848be65c02914004ccfce/spheres-cluster-many.svg&quot;,&quot;size&quot;:{&quot;x&quot;:470,&quot;y&quot;:470},&quot;isPremium&quot;:false},&quot;source&quot;:{&quot;id&quot;:&quot;5b88488165c02914004ccfcd&quot;,&quot;type&quot;:&quot;ASSETS&quot;},&quot;pathStyles&quot;:[{&quot;type&quot;:&quot;FILL&quot;,&quot;fillStyle&quot;:&quot;rgb(0,0,0)&quot;}],&quot;isLocked&quot;:false,&quot;parent&quot;:{&quot;type&quot;:&quot;CHILD&quot;,&quot;parentId&quot;:&quot;5088b4c2-9994-422f-b3c4-ee28f0fba580&quot;,&quot;order&quot;:&quot;5&quot;},&quot;styles&quot;:{&quot;editable&quot;:[{&quot;styleName&quot;:&quot;SATURATE&quot;,&quot;index&quot;:0,&quot;value&quot;:0}]}},&quot;8ab10434-9dcc-4aff-9ca3-d0667eb4370f&quot;:{&quot;relativeTransform&quot;:{&quot;translate&quot;:{&quot;x&quot;:-44.010133664875255,&quot;y&quot;:-56.78324295250927},&quot;rotate&quot;:0,&quot;skewX&quot;:0,&quot;scale&quot;:{&quot;x&quot;:1,&quot;y&quot;:1}},&quot;type&quot;:&quot;FIGURE_OBJECT&quot;,&quot;id&quot;:&quot;8ab10434-9dcc-4aff-9ca3-d0667eb4370f&quot;,&quot;name&quot;:&quot;Hydrogel (spherical, emulsion)&quot;,&quot;displayName&quot;:&quot;Hydrogel (spherical, emulsion)&quot;,&quot;opacity&quot;:0.46,&quot;source&quot;:{&quot;id&quot;:&quot;5d1e41d1b3261f0033eb9fe0&quot;,&quot;type&quot;:&quot;ASSETS&quot;},&quot;pathStyles&quot;:[{&quot;type&quot;:&quot;FILL&quot;,&quot;fillStyle&quot;:&quot;rgb(0,0,0)&quot;}],&quot;isLocked&quot;:false,&quot;parent&quot;:{&quot;type&quot;:&quot;CHILD&quot;,&quot;parentId&quot;:&quot;f567f31b-e8cc-49e4-8fa3-eec850efe5a5&quot;,&quot;order&quot;:&quot;2&quot;},&quot;isPremium&quot;:true},&quot;9a118dd9-2aef-4ac5-9e8c-0c6b6f054f03&quot;:{&quot;type&quot;:&quot;FIGURE_OBJECT&quot;,&quot;id&quot;:&quot;9a118dd9-2aef-4ac5-9e8c-0c6b6f054f03&quot;,&quot;name&quot;:&quot;Spherical hydrogel&quot;,&quot;relativeTransform&quot;:{&quot;translate&quot;:{&quot;x&quot;:-0.0807251227397309,&quot;y&quot;:-0.08253917044175091},&quot;rotate&quot;:0,&quot;skewX&quot;:0,&quot;scale&quot;:{&quot;x&quot;:0.09977262361090809,&quot;y&quot;:0.09977262361090809}},&quot;opacity&quot;:1,&quot;image&quot;:{&quot;url&quot;:&quot;https://res.cloudinary.com/dlcjuc3ej/image/upload/v1562263822/n8xhkhq1t5lqlkllbpsh.svg#/keystone/api/icons/5d1e40cd29864104003440f4/20190704181022/image/hydrogel-spherical.svg&quot;,&quot;size&quot;:{&quot;x&quot;:385,&quot;y&quot;:399},&quot;isPremium&quot;:false},&quot;source&quot;:{&quot;id&quot;:&quot;5d1e40cd29864104003440f4&quot;,&quot;type&quot;:&quot;ASSETS&quot;},&quot;pathStyles&quot;:[{&quot;type&quot;:&quot;FILL&quot;,&quot;fillStyle&quot;:&quot;rgb(0,0,0)&quot;}],&quot;isLocked&quot;:false,&quot;parent&quot;:{&quot;type&quot;:&quot;CHILD&quot;,&quot;parentId&quot;:&quot;8ab10434-9dcc-4aff-9ca3-d0667eb4370f&quot;,&quot;order&quot;:&quot;2&quot;},&quot;styles&quot;:{&quot;editable&quot;:[{&quot;styleName&quot;:&quot;SATURATE&quot;,&quot;index&quot;:0,&quot;value&quot;:0}]}},&quot;ea0feb42-dcc9-4d25-9687-5dea74c6a3a1&quot;:{&quot;type&quot;:&quot;FIGURE_OBJECT&quot;,&quot;id&quot;:&quot;ea0feb42-dcc9-4d25-9687-5dea74c6a3a1&quot;,&quot;name&quot;:&quot;Spheres (cluster, many)&quot;,&quot;relativeTransform&quot;:{&quot;translate&quot;:{&quot;x&quot;:-0.20317334262584744,&quot;y&quot;:-0.17777667479761874},&quot;rotate&quot;:0,&quot;skewX&quot;:0,&quot;scale&quot;:{&quot;x&quot;:0.05804952646452833,&quot;y&quot;:0.05804952646452832}},&quot;opacity&quot;:1,&quot;image&quot;:{&quot;url&quot;:&quot;https://res.cloudinary.com/dlcjuc3ej/image/upload/v1535658169/ztj7cf8mqjakxtzx1hdb.svg#/keystone/api/icons/5b8848be65c02914004ccfce/spheres-cluster-many.svg&quot;,&quot;size&quot;:{&quot;x&quot;:470,&quot;y&quot;:470},&quot;isPremium&quot;:false},&quot;source&quot;:{&quot;id&quot;:&quot;5b88488165c02914004ccfcd&quot;,&quot;type&quot;:&quot;ASSETS&quot;},&quot;pathStyles&quot;:[{&quot;type&quot;:&quot;FILL&quot;,&quot;fillStyle&quot;:&quot;rgb(0,0,0)&quot;}],&quot;isLocked&quot;:false,&quot;parent&quot;:{&quot;type&quot;:&quot;CHILD&quot;,&quot;parentId&quot;:&quot;8ab10434-9dcc-4aff-9ca3-d0667eb4370f&quot;,&quot;order&quot;:&quot;5&quot;},&quot;styles&quot;:{&quot;editable&quot;:[{&quot;styleName&quot;:&quot;SATURATE&quot;,&quot;index&quot;:0,&quot;value&quot;:0}]}},&quot;4d08609a-7c1a-4af9-8781-5f24bd1de9bb&quot;:{&quot;relativeTransform&quot;:{&quot;translate&quot;:{&quot;x&quot;:-30.38564863493506,&quot;y&quot;:-88.19638067706018},&quot;rotate&quot;:0,&quot;skewX&quot;:0,&quot;scale&quot;:{&quot;x&quot;:1,&quot;y&quot;:1}},&quot;type&quot;:&quot;FIGURE_OBJECT&quot;,&quot;id&quot;:&quot;4d08609a-7c1a-4af9-8781-5f24bd1de9bb&quot;,&quot;name&quot;:&quot;Hydrogel (spherical, emulsion)&quot;,&quot;displayName&quot;:&quot;Hydrogel (spherical, emulsion)&quot;,&quot;opacity&quot;:0.46,&quot;source&quot;:{&quot;id&quot;:&quot;5d1e41d1b3261f0033eb9fe0&quot;,&quot;type&quot;:&quot;ASSETS&quot;},&quot;pathStyles&quot;:[{&quot;type&quot;:&quot;FILL&quot;,&quot;fillStyle&quot;:&quot;rgb(0,0,0)&quot;}],&quot;isLocked&quot;:false,&quot;parent&quot;:{&quot;type&quot;:&quot;CHILD&quot;,&quot;parentId&quot;:&quot;f567f31b-e8cc-49e4-8fa3-eec850efe5a5&quot;,&quot;order&quot;:&quot;5&quot;},&quot;isPremium&quot;:true},&quot;9e4f4431-6d08-4a89-8589-b4b7544c2253&quot;:{&quot;type&quot;:&quot;FIGURE_OBJECT&quot;,&quot;id&quot;:&quot;9e4f4431-6d08-4a89-8589-b4b7544c2253&quot;,&quot;name&quot;:&quot;Spherical hydrogel&quot;,&quot;relativeTransform&quot;:{&quot;translate&quot;:{&quot;x&quot;:-0.0807251227397309,&quot;y&quot;:-0.08253917044175091},&quot;rotate&quot;:0,&quot;skewX&quot;:0,&quot;scale&quot;:{&quot;x&quot;:0.09977262361090809,&quot;y&quot;:0.09977262361090809}},&quot;opacity&quot;:1,&quot;image&quot;:{&quot;url&quot;:&quot;https://res.cloudinary.com/dlcjuc3ej/image/upload/v1562263822/n8xhkhq1t5lqlkllbpsh.svg#/keystone/api/icons/5d1e40cd29864104003440f4/20190704181022/image/hydrogel-spherical.svg&quot;,&quot;size&quot;:{&quot;x&quot;:385,&quot;y&quot;:399},&quot;isPremium&quot;:false},&quot;source&quot;:{&quot;id&quot;:&quot;5d1e40cd29864104003440f4&quot;,&quot;type&quot;:&quot;ASSETS&quot;},&quot;pathStyles&quot;:[{&quot;type&quot;:&quot;FILL&quot;,&quot;fillStyle&quot;:&quot;rgb(0,0,0)&quot;}],&quot;isLocked&quot;:false,&quot;parent&quot;:{&quot;type&quot;:&quot;CHILD&quot;,&quot;parentId&quot;:&quot;4d08609a-7c1a-4af9-8781-5f24bd1de9bb&quot;,&quot;order&quot;:&quot;2&quot;},&quot;styles&quot;:{&quot;editable&quot;:[{&quot;styleName&quot;:&quot;SATURATE&quot;,&quot;index&quot;:0,&quot;value&quot;:0}]}},&quot;4e078b71-3907-42fd-8e7e-9eeda7769430&quot;:{&quot;type&quot;:&quot;FIGURE_OBJECT&quot;,&quot;id&quot;:&quot;4e078b71-3907-42fd-8e7e-9eeda7769430&quot;,&quot;name&quot;:&quot;Spheres (cluster, many)&quot;,&quot;relativeTransform&quot;:{&quot;translate&quot;:{&quot;x&quot;:-0.20317334262584744,&quot;y&quot;:-0.17777667479761874},&quot;rotate&quot;:0,&quot;skewX&quot;:0,&quot;scale&quot;:{&quot;x&quot;:0.05804952646452833,&quot;y&quot;:0.05804952646452832}},&quot;opacity&quot;:1,&quot;image&quot;:{&quot;url&quot;:&quot;https://res.cloudinary.com/dlcjuc3ej/image/upload/v1535658169/ztj7cf8mqjakxtzx1hdb.svg#/keystone/api/icons/5b8848be65c02914004ccfce/spheres-cluster-many.svg&quot;,&quot;size&quot;:{&quot;x&quot;:470,&quot;y&quot;:470},&quot;isPremium&quot;:false},&quot;source&quot;:{&quot;id&quot;:&quot;5b88488165c02914004ccfcd&quot;,&quot;type&quot;:&quot;ASSETS&quot;},&quot;pathStyles&quot;:[{&quot;type&quot;:&quot;FILL&quot;,&quot;fillStyle&quot;:&quot;rgb(0,0,0)&quot;}],&quot;isLocked&quot;:false,&quot;parent&quot;:{&quot;type&quot;:&quot;CHILD&quot;,&quot;parentId&quot;:&quot;4d08609a-7c1a-4af9-8781-5f24bd1de9bb&quot;,&quot;order&quot;:&quot;5&quot;},&quot;styles&quot;:{&quot;editable&quot;:[{&quot;styleName&quot;:&quot;SATURATE&quot;,&quot;index&quot;:0,&quot;value&quot;:0}]}},&quot;0bffe413-c3c2-4c16-b326-4b7873dbf1f6&quot;:{&quot;id&quot;:&quot;0bffe413-c3c2-4c16-b326-4b7873dbf1f6&quot;,&quot;type&quot;:&quot;FIGURE_OBJECT&quot;,&quot;relativeTransform&quot;:{&quot;translate&quot;:{&quot;x&quot;:-55.31397488969361,&quot;y&quot;:-104.79684732579628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8,&quot;color&quot;:&quot;rgba(112,112,113,1)&quot;,&quot;fontWeight&quot;:&quot;normal&quot;,&quot;fontStyle&quot;:&quot;italic&quot;,&quot;decoration&quot;:&quot;none&quot;},&quot;range&quot;:[0,26]}],&quot;text&quot;:&quot;(Granules not yet in model)&quot;}],&quot;_lastCaretLocation&quot;:{&quot;lineIndex&quot;:0,&quot;runIndex&quot;:-1,&quot;charIndex&quot;:-1,&quot;endOfLine&quot;:true}},&quot;format&quot;:&quot;BETTER_TEXT&quot;,&quot;size&quot;:{&quot;x&quot;:65.31784226468608,&quot;y&quot;:26},&quot;targetSize&quot;:{&quot;x&quot;:65.31784226468608,&quot;y&quot;:26}},&quot;parent&quot;:{&quot;type&quot;:&quot;CHILD&quot;,&quot;parentId&quot;:&quot;f567f31b-e8cc-49e4-8fa3-eec850efe5a5&quot;,&quot;order&quot;:&quot;7&quot;},&quot;isLocked&quot;:false},&quot;f567f31b-e8cc-49e4-8fa3-eec850efe5a5&quot;:{&quot;type&quot;:&quot;FIGURE_OBJECT&quot;,&quot;id&quot;:&quot;f567f31b-e8cc-49e4-8fa3-eec850efe5a5&quot;,&quot;parent&quot;:{&quot;type&quot;:&quot;CHILD&quot;,&quot;parentId&quot;:&quot;b5f6e286-6b83-438e-aeb6-6ed23306d230&quot;,&quot;order&quot;:&quot;9999999999999999999999995&quot;},&quot;relativeTransform&quot;:{&quot;translate&quot;:{&quot;x&quot;:223.6103892215569,&quot;y&quot;:171.31115568862282},&quot;rotate&quot;:0,&quot;skewX&quot;:0,&quot;scale&quot;:{&quot;x&quot;:1,&quot;y&quot;:1}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6062f4c3-24de-4938-88dd-ef8d4443d032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6062f4c3-24de-4938-88dd-ef8d4443d032&quot;:{&quot;type&quot;:&quot;FIGURE_OBJECT&quot;,&quot;id&quot;:&quot;6062f4c3-24de-4938-88dd-ef8d4443d032&quot;,&quot;relativeTransform&quot;:{&quot;translate&quot;:{&quot;x&quot;:-80.62645212364001,&quot;y&quot;:-41.77736865737754},&quot;rotate&quot;:1.9594091067632864,&quot;skewX&quot;:1.6653345369377353e-16,&quot;scale&quot;:{&quot;x&quot;:0.9999999999999999,&quot;y&quot;:1.0000000000000022}},&quot;opacity&quot;:1,&quot;path&quot;:{&quot;type&quot;:&quot;POLY_LINE&quot;,&quot;points&quot;:[{&quot;x&quot;:191.54815199261395,&quot;y&quot;:-108.05609628198572},{&quot;x&quot;:191.82253748288554,&quot;y&quot;:-109.84124879635563},{&quot;x&quot;:181.36296425993962,&quot;y&quot;:-85.0254514358188},{&quot;x&quot;:170.27690092647043,&quot;y&quot;:-39.00932458524753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4A7EA900&quot;,&quot;1&quot;:&quot;#4A7EA9&quot;,&quot;0.45&quot;:&quot;#4A7EA9&quot;}},&quot;lineWidth&quot;:4.003950102261764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b5f6e286-6b83-438e-aeb6-6ed23306d230&quot;,&quot;order&quot;:&quot;9999999999999999999999997&quot;},&quot;connectorInfo&quot;:{&quot;type&quot;:&quot;QUADRATIC&quot;,&quot;offset&quot;:{&quot;x&quot;:0,&quot;y&quot;:0},&quot;bending&quot;:-0.1,&quot;customized&quot;:true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82d11439-1dee-4378-a83e-a18aff9f249b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82d11439-1dee-4378-a83e-a18aff9f249b&quot;:{&quot;id&quot;:&quot;82d11439-1dee-4378-a83e-a18aff9f249b&quot;,&quot;name&quot;:&quot;GPCR&quot;,&quot;type&quot;:&quot;FIGURE_OBJECT&quot;,&quot;relativeTransform&quot;:{&quot;translate&quot;:{&quot;x&quot;:238.80846578799336,&quot;y&quot;:-71.628516323034},&quot;rotate&quot;:1.014646631712449,&quot;skewX&quot;:2.375899574475171e-16,&quot;scale&quot;:{&quot;x&quot;:0.5920000000000003,&quot;y&quot;:0.5920000000000003}},&quot;image&quot;:{&quot;url&quot;:&quot;https://icons.biorender.com/biorender/5f4fedf878482a0026a94caf/gpcr.png&quot;,&quot;fallbackUrl&quot;:&quot;https://res.cloudinary.com/dlcjuc3ej/image/upload/v1599073776/hsxysoyyqlbnzbt3vku1.svg#/keystone/api/icons/5f4fedf878482a0026a94caf/gpcr.svg&quot;,&quot;isPremium&quot;:false,&quot;isPacked&quot;:true,&quot;size&quot;:{&quot;x&quot;:125,&quot;y&quot;:105.26315789473684}},&quot;source&quot;:{&quot;id&quot;:&quot;5f4e9aa331c20900280122d7&quot;,&quot;type&quot;:&quot;ASSETS&quot;},&quot;parent&quot;:{&quot;type&quot;:&quot;CHILD&quot;,&quot;parentId&quot;:&quot;b5f6e286-6b83-438e-aeb6-6ed23306d230&quot;,&quot;order&quot;:&quot;9999999999999999999999998&quot;},&quot;opacity&quot;:0.45,&quot;isLocked&quot;:false,&quot;styles&quot;:{&quot;editable&quot;:[{&quot;styleName&quot;:&quot;SATURATE&quot;,&quot;index&quot;:0,&quot;value&quot;:11}]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04869f4c18dbbec290ac4d"/>
  <p:tag name="FIGURESLIDEID" val="b5f6e286-6b83-438e-aeb6-6ed23306d230"/>
  <p:tag name="SELECTIONIDS" val="bb783325-ec70-4672-96bd-d403960fedc8"/>
  <p:tag name="TRANSPARENTBACKGROUND" val="true"/>
  <p:tag name="VERSION" val="1779184372553"/>
  <p:tag name="TITLE" val="Platelet Ca Pathway"/>
  <p:tag name="CREATORNAME" val="Steve Haigh"/>
  <p:tag name="DATEINSERTED" val="1779184372792"/>
  <p:tag name="DPI" val="300"/>
  <p:tag name="BIOJSON" val="{&quot;id&quot;:&quot;89682b7d-afe2-4375-8a26-45665739d821&quot;,&quot;objects&quot;:{&quot;bb783325-ec70-4672-96bd-d403960fedc8&quot;:{&quot;id&quot;:&quot;bb783325-ec70-4672-96bd-d403960fedc8&quot;,&quot;name&quot;:&quot;GPCR&quot;,&quot;type&quot;:&quot;FIGURE_OBJECT&quot;,&quot;relativeTransform&quot;:{&quot;translate&quot;:{&quot;x&quot;:266.67680345033125,&quot;y&quot;:16.420003157485457},&quot;rotate&quot;:1.4615884768816798,&quot;skewX&quot;:1.979916312062643e-16,&quot;scale&quot;:{&quot;x&quot;:0.5920000000000003,&quot;y&quot;:0.5920000000000003}},&quot;image&quot;:{&quot;url&quot;:&quot;https://icons.biorender.com/biorender/5f4fedf878482a0026a94caf/gpcr.png&quot;,&quot;fallbackUrl&quot;:&quot;https://res.cloudinary.com/dlcjuc3ej/image/upload/v1599073776/hsxysoyyqlbnzbt3vku1.svg#/keystone/api/icons/5f4fedf878482a0026a94caf/gpcr.svg&quot;,&quot;isPremium&quot;:false,&quot;isPacked&quot;:true,&quot;size&quot;:{&quot;x&quot;:125,&quot;y&quot;:105.26315789473684}},&quot;source&quot;:{&quot;id&quot;:&quot;5f4e9aa331c20900280122d7&quot;,&quot;type&quot;:&quot;ASSETS&quot;},&quot;parent&quot;:{&quot;type&quot;:&quot;CHILD&quot;,&quot;parentId&quot;:&quot;b5f6e286-6b83-438e-aeb6-6ed23306d230&quot;,&quot;order&quot;:&quot;99999999999999999999999995&quot;},&quot;opacity&quot;:0.45,&quot;isLocked&quot;:false,&quot;styles&quot;:{&quot;editable&quot;:[{&quot;styleName&quot;:&quot;SATURATE&quot;,&quot;index&quot;:0,&quot;value&quot;:11}]}},&quot;b5f6e286-6b83-438e-aeb6-6ed23306d230&quot;:{&quot;id&quot;:&quot;b5f6e286-6b83-438e-aeb6-6ed23306d230&quot;,&quot;type&quot;:&quot;FIGURE_OBJECT&quot;,&quot;document&quot;:{&quot;type&quot;:&quot;FIGURE&quot;,&quot;canvasType&quot;:&quot;FIGURE&quot;,&quot;units&quot;:&quot;cm&quot;,&quot;title&quot;:&quot;Final&quot;,&quot;aspectRatio&quot;:1.4285714285714286},&quot;parent&quot;:{&quot;parentId&quot;:&quot;89682b7d-afe2-4375-8a26-45665739d821&quot;,&quot;type&quot;:&quot;DOCUMENT&quot;,&quot;order&quot;:&quot;5&quot;}},&quot;89682b7d-afe2-4375-8a26-45665739d821&quot;:{&quot;id&quot;:&quot;89682b7d-afe2-4375-8a26-45665739d821&quot;,&quot;type&quot;:&quot;FIGURE_OBJECT&quot;,&quot;document&quot;:{&quot;type&quot;:&quot;DOCUMENT_GROUP&quot;,&quot;canvasType&quot;:&quot;FIGUR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1422</TotalTime>
  <Words>1825</Words>
  <Application>Microsoft Macintosh PowerPoint</Application>
  <PresentationFormat>Widescreen</PresentationFormat>
  <Paragraphs>169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Andale Mono</vt:lpstr>
      <vt:lpstr>Aptos</vt:lpstr>
      <vt:lpstr>Arial</vt:lpstr>
      <vt:lpstr>IBM Plex Mono</vt:lpstr>
      <vt:lpstr>Roboto</vt:lpstr>
      <vt:lpstr>Source Serif 4</vt:lpstr>
      <vt:lpstr>Source Serif 4 Medium</vt:lpstr>
      <vt:lpstr>STIX Two Math</vt:lpstr>
      <vt:lpstr>Office Theme</vt:lpstr>
      <vt:lpstr>The feasibility of a whole-cell model of the human platelet</vt:lpstr>
      <vt:lpstr>Quick recap</vt:lpstr>
      <vt:lpstr>Method to build a calibrated model</vt:lpstr>
      <vt:lpstr>Build code from source data</vt:lpstr>
      <vt:lpstr>Build code from source data</vt:lpstr>
      <vt:lpstr>Build code from source data</vt:lpstr>
      <vt:lpstr>What did I build? (so far)</vt:lpstr>
      <vt:lpstr>Spotting Errors in the source</vt:lpstr>
      <vt:lpstr>Validation</vt:lpstr>
      <vt:lpstr>Model stimulated with ADP / Thrombin  - Cytosolic Ca</vt:lpstr>
      <vt:lpstr>Model stimulated with ADP / Thrombin  - DTS Ca</vt:lpstr>
      <vt:lpstr>Where it goes from here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theme — paper-serif, Okabe-Ito vermillion</dc:title>
  <dc:subject>PptxGenJS Presentation</dc:subject>
  <dc:creator>Steve Haigh</dc:creator>
  <cp:lastModifiedBy>Steve Haigh</cp:lastModifiedBy>
  <cp:revision>5</cp:revision>
  <dcterms:created xsi:type="dcterms:W3CDTF">2026-05-11T14:50:23Z</dcterms:created>
  <dcterms:modified xsi:type="dcterms:W3CDTF">2026-05-20T09:42:08Z</dcterms:modified>
</cp:coreProperties>
</file>